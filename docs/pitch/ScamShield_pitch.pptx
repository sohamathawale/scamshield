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036006e2-abb4-45b8-068e-5bd7f45ddb7a}">
          <p14:sldIdLst>
            <p14:sldId id="256"/>
            <p14:sldId id="257"/>
            <p14:sldId id="258"/>
          </p14:sldIdLst>
        </p14:section>
        <p14:section name="How" id="{2c830d86-9e53-550a-8845-ba5d97efdd1d}">
          <p14:sldIdLst>
            <p14:sldId id="259"/>
            <p14:sldId id="260"/>
          </p14:sldIdLst>
        </p14:section>
        <p14:section name="Trust" id="{9f6c1540-52e5-6d00-9453-3133c39ea9cf}">
          <p14:sldIdLst>
            <p14:sldId id="261"/>
          </p14:sldIdLst>
        </p14:section>
        <p14:section name="Results" id="{ec3499a6-eaa6-a7ff-2105-6088bf174411}">
          <p14:sldIdLst>
            <p14:sldId id="262"/>
            <p14:sldId id="263"/>
          </p14:sldIdLst>
        </p14:section>
        <p14:section name="Responsible AI" id="{6f083f39-4a99-7904-36a1-df18bcfd1619}">
          <p14:sldIdLst>
            <p14:sldId id="264"/>
          </p14:sldIdLst>
        </p14:section>
        <p14:section name="Impact" id="{c7faf966-ec8a-9c69-8355-91d448a30d83}">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0:00–0:15
SAY:
"Hi, we're Team IBMBoB, and this is ScamShield. It checks every payment before the money moves, in milliseconds, running live on an IBM z17 in the LinuxONE Community Cloud. We're in Theme 1: Real-Time AI for Critical Decisions."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0:15–0:45
SAY:
"Australians lost 2.03 billion dollars to scams in 2024. The money moves through mule accounts within minutes, and once it's gone, it's rarely recovered. The new Scams Prevention Framework says banks must detect, disrupt and respond.
We built for two people: a customer being talked into sending money, and a scam analyst who needs the few risky payments, with evidence.
One honest note: our public data labels laundering, not scams, so what we measure is breaking the mule chains scam money flows through."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0:45–1:05
SAY:
"Every payment gets one of three actions.
Allow: nothing unusual, it goes straight through. That's 98 percent of payments.
Warn: it's risky or out of character, so the customer gets a specific warning, and they decide. About one and a half percent.
Hold: a strong mule-account match, or a borderline one of five thousand dollars or more. The payment waits while the bank calls the customer back, and a human decides. That's fewer than one payment in a thousand.
And warnings never block."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1:05–1:35
SAY (on this slide):
"Account numbers become keyed tokens the moment a payment arrives. One streaming feature engine reads the payer's and the receiving account's history, which is where mule behaviour shows. A PyTorch autoencoder asks: is this unusual for this customer? XGBoost scores mule risk, and IBM Granite writes the analyst's brief, off the hot path."
DO: Switch to the VM terminal. Run, one at a time:
  uname -m
  grep Type /proc/sysinfo
  lscpu | grep -io nnpa
  docker compose ps
SAY (while they print):
"This is the real machine: machine type 9175, a z17, with the NNPA flag for the Telum II accelerator, and our containers built from the official LinuxONE image."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1:35–3:05  (live demo: analyst, then customer)
DO: Switch to the ANALYST browser window.
SAY:
"This is the analyst dashboard. Payments stream in at about four milliseconds each, and every one is checked. Single payments run on the CPU, which is faster for small batches."
DO: Click a PAUSED payment to open it.
SAY:
"This one is paused: a first ACH payment to this payee, with its main risk drivers. Opening it wrote an audit entry. IBM Granite, running here on LinuxONE, wrote this brief from pseudonymised facts only, and it says plainly it's not a finding of fraud."
DO: Click "Customer confirmed: release" (or "Scam confirmed: stop payment"). Point at the mule watchlist.
SAY:
"The analyst makes the call. And this watchlist ranks receiving accounts that look like mules."
DO: Switch to the CUSTOMER browser window.
SAY:
"The customer only sees their own payments, and an instant, specific message: your first payment to this payee, much larger than usual, so check them through a contact you already trust. No scores, no accusations; they decide."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3:05–3:40  (live: auditor view + tamper test)
DO: Switch to the AUDITOR browser window. Click "Verify audit chain".
SAY:
"Security is in the core. Every decision, login and case view is hash-chained. Verify: intact."
DO: In the VM terminal (in ~/scamshield), paste and run the tamper command:
  docker compose exec api python -c "import sqlite3; c=sqlite3.connect('/data/scamshield.db'); c.execute('DROP TRIGGER audit_no_update'); c.execute(\"UPDATE audit SET details='{}' WHERE id=50\"); c.commit()"
Then click "Verify audit chain" again.
SAY:
"Now I edit one row directly in the database, going around the protections. Verify again: broken, at that exact entry.
Account numbers are pseudonymised on arrival, payloads are AES-256-GCM encrypted on the z17's CPACF crypto, and each role only sees what it needs."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3:40–4:00
SAY:
"So, the results. On two unseen days, 862,000 payments, we paused fewer than one payment in a thousand, and three in four of those were laundering. 147 of 174 laundering schemes were broken, and 82 percent of laundering payments were warned or paused.
The money paused is 269 million dollars. To be straight with you, most of that is ten very large transfers, which is why we lead with precision and schemes broken."
IF ASKED (don't read on camera): borderline payments are only paused from $5,000. Versus a plain risk threshold: 641 vs 936 pauses, 73% vs 53% precision, the same $269M, 147 vs 150 schemes. Precision fell from validation to test (81.5% to 73%), so two test days is a short evaluation.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4:00–4:20  (live: bulk file)
DO: In the VM terminal, run the prepared bulk-file command (DEMO_SCRIPT step 6):
  docker compose --profile demo run --rm --no-deps simulator python -m scamshield.simulator --url http://api:8000 --offset 88000 --limit 4096 --rate 0 --concurrency 1 --inject 0 --file-size 2048
Then show the analyst dashboard's "On Telum II NNPA" tile.
SAY:
"Banks also receive bulk payment files. A 2,048-payment file is scored in one call, and the tile jumps: those payments ran on the Telum II, where our model is up to 1.4 times faster than the CPU.
End to end, honestly, that gain is lost in the rest of the pipeline. So moving the tree model onto the accelerator is our next step."
DON'T claim the whole service is accelerated, or that NNPA speeds up single payments.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4:20–4:45
SAY:
"Warnings never block, and every hold reaches a human. Every decision carries its reasons.
We audited fairness by currency, format and bank size. Honest ACH transfers and small-bank customers get more false alarms, so we measured a fix: an ACH-specific threshold cuts them by about a third, for a small loss in coverage.
And one limit: in this data, a victim's payment looks like an honest large first payment, so both get the same protective check."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4:45–5:00
SAY:
"ScamShield checks every payment before it leaves and breaks the mule chain early. Customers get a clear warning, and analysts spend their time where three in four cases are real.
I'm Soham Athawale, the team lead, and I [say what you built]. My teammate Vaishnavi Joshi [say what Vaishnavi built].
Thanks for watching."
BEFORE RECORDING: replace the two [ ] role lines on this slide and in this script.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rtlCol="0"/>
          <a:lstStyle>
            <a:lvl1pPr indent="0" marL="0">
              <a:buNone/>
              <a:defRPr lang="en-US" sz="1300" b="1" spc="200" kern="0" dirty="0">
                <a:solidFill>
                  <a:schemeClr val="accent1"/>
                </a:solidFill>
              </a:defRPr>
            </a:lvl1pPr>
          </a:lstStyle>
          <a:p>
            <a:pPr indent="0" marL="0">
              <a:buNone/>
            </a:pP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ph idx="102" type="body" hasCustomPrompt="1"/>
          </p:nvPr>
        </p:nvSpPr>
        <p:spPr>
          <a:xfrm>
            <a:off x="548640" y="6355080"/>
            <a:ext cx="10362895" cy="274320"/>
          </a:xfrm>
          <a:prstGeom prst="rect">
            <a:avLst/>
          </a:prstGeom>
          <a:noFill/>
          <a:ln/>
        </p:spPr>
        <p:txBody>
          <a:bodyPr wrap="square" rtlCol="0"/>
          <a:lstStyle>
            <a:lvl1pPr indent="0" marL="0">
              <a:buNone/>
              <a:defRPr lang="en-US" sz="1100" dirty="0">
                <a:solidFill>
                  <a:schemeClr val="tx2"/>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6355080"/>
            <a:ext cx="10362895" cy="274320"/>
          </a:xfrm>
          <a:prstGeom prst="rect">
            <a:avLst/>
          </a:prstGeom>
          <a:noFill/>
          <a:ln/>
        </p:spPr>
        <p:txBody>
          <a:bodyPr wrap="square" rtlCol="0"/>
          <a:lstStyle>
            <a:lvl1pPr indent="0" marL="0">
              <a:buNone/>
              <a:defRPr lang="en-US" sz="1100" dirty="0">
                <a:solidFill>
                  <a:schemeClr val="accent5"/>
                </a:solidFill>
              </a:defRPr>
            </a:lvl1pPr>
          </a:lstStyle>
          <a:p>
            <a:pPr indent="0" marL="0">
              <a:buNone/>
            </a:pP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34440"/>
            <a:ext cx="11094415" cy="365760"/>
          </a:xfrm>
          <a:prstGeom prst="rect">
            <a:avLst/>
          </a:prstGeom>
          <a:noFill/>
          <a:ln/>
        </p:spPr>
        <p:txBody>
          <a:bodyPr wrap="square" lIns="0" tIns="0" rIns="0" bIns="0" rtlCol="0" anchor="t"/>
          <a:lstStyle/>
          <a:p>
            <a:pPr indent="0" marL="0">
              <a:buNone/>
            </a:pPr>
            <a:r>
              <a:rPr lang="en-US" sz="1400" b="1" spc="200" kern="0" dirty="0">
                <a:solidFill>
                  <a:schemeClr val="accent5"/>
                </a:solidFill>
              </a:rPr>
              <a:t>IBM Z DATATHON 2026 · THEME 1: REAL-TIME AI FOR CRITICAL DECISIONS</a:t>
            </a:r>
            <a:endParaRPr lang="en-US" sz="1400" dirty="0"/>
          </a:p>
        </p:txBody>
      </p:sp>
      <p:sp>
        <p:nvSpPr>
          <p:cNvPr id="3" name="Text 1"/>
          <p:cNvSpPr txBox="1"/>
          <p:nvPr/>
        </p:nvSpPr>
        <p:spPr>
          <a:xfrm>
            <a:off x="548640" y="1783080"/>
            <a:ext cx="11094415" cy="1188720"/>
          </a:xfrm>
          <a:prstGeom prst="rect">
            <a:avLst/>
          </a:prstGeom>
          <a:noFill/>
          <a:ln/>
        </p:spPr>
        <p:txBody>
          <a:bodyPr wrap="square" lIns="0" tIns="0" rIns="0" bIns="0" rtlCol="0" anchor="t"/>
          <a:lstStyle/>
          <a:p>
            <a:pPr indent="0" marL="0">
              <a:buNone/>
            </a:pPr>
            <a:r>
              <a:rPr lang="en-US" sz="7200" b="1" dirty="0">
                <a:solidFill>
                  <a:schemeClr val="bg1"/>
                </a:solidFill>
              </a:rPr>
              <a:t>ScamShield</a:t>
            </a:r>
            <a:endParaRPr lang="en-US" sz="7200" dirty="0"/>
          </a:p>
        </p:txBody>
      </p:sp>
      <p:sp>
        <p:nvSpPr>
          <p:cNvPr id="4" name="Text 2"/>
          <p:cNvSpPr txBox="1"/>
          <p:nvPr/>
        </p:nvSpPr>
        <p:spPr>
          <a:xfrm>
            <a:off x="548640" y="3063240"/>
            <a:ext cx="9601200" cy="868680"/>
          </a:xfrm>
          <a:prstGeom prst="rect">
            <a:avLst/>
          </a:prstGeom>
          <a:noFill/>
          <a:ln/>
        </p:spPr>
        <p:txBody>
          <a:bodyPr wrap="square" lIns="0" tIns="0" rIns="0" bIns="0" rtlCol="0" anchor="t"/>
          <a:lstStyle/>
          <a:p>
            <a:pPr indent="0" marL="0">
              <a:buNone/>
            </a:pPr>
            <a:r>
              <a:rPr lang="en-US" sz="2600" dirty="0">
                <a:solidFill>
                  <a:schemeClr val="bg1"/>
                </a:solidFill>
              </a:rPr>
              <a:t>Every payment checked </a:t>
            </a:r>
            <a:pPr indent="0" marL="0">
              <a:buNone/>
            </a:pPr>
            <a:r>
              <a:rPr lang="en-US" sz="2600" b="1" dirty="0">
                <a:solidFill>
                  <a:schemeClr val="bg1"/>
                </a:solidFill>
              </a:rPr>
              <a:t>before the money moves</a:t>
            </a:r>
            <a:pPr indent="0" marL="0">
              <a:buNone/>
            </a:pPr>
            <a:r>
              <a:rPr lang="en-US" sz="2600" dirty="0">
                <a:solidFill>
                  <a:schemeClr val="bg1"/>
                </a:solidFill>
              </a:rPr>
              <a:t>, in milliseconds, on IBM LinuxONE.</a:t>
            </a:r>
            <a:endParaRPr lang="en-US" sz="2600" dirty="0"/>
          </a:p>
        </p:txBody>
      </p:sp>
      <p:sp>
        <p:nvSpPr>
          <p:cNvPr id="5" name="Text 3"/>
          <p:cNvSpPr txBox="1"/>
          <p:nvPr/>
        </p:nvSpPr>
        <p:spPr>
          <a:xfrm>
            <a:off x="548640" y="3977640"/>
            <a:ext cx="9601200" cy="457200"/>
          </a:xfrm>
          <a:prstGeom prst="rect">
            <a:avLst/>
          </a:prstGeom>
          <a:noFill/>
          <a:ln/>
        </p:spPr>
        <p:txBody>
          <a:bodyPr wrap="square" lIns="0" tIns="0" rIns="0" bIns="0" rtlCol="0" anchor="t"/>
          <a:lstStyle/>
          <a:p>
            <a:pPr indent="0" marL="0">
              <a:buNone/>
            </a:pPr>
            <a:r>
              <a:rPr lang="en-US" sz="1800" dirty="0">
                <a:solidFill>
                  <a:schemeClr val="accent5"/>
                </a:solidFill>
              </a:rPr>
              <a:t>Risky payments get a clear warning. Mule-account patterns are paused for a human call-back.</a:t>
            </a:r>
            <a:endParaRPr lang="en-US" sz="1800" dirty="0"/>
          </a:p>
        </p:txBody>
      </p:sp>
      <p:sp>
        <p:nvSpPr>
          <p:cNvPr id="6" name="pill 1"/>
          <p:cNvSpPr/>
          <p:nvPr/>
        </p:nvSpPr>
        <p:spPr>
          <a:xfrm>
            <a:off x="548640" y="4754880"/>
            <a:ext cx="2743200" cy="457200"/>
          </a:xfrm>
          <a:prstGeom prst="roundRect">
            <a:avLst>
              <a:gd name="adj" fmla="val 50000"/>
            </a:avLst>
          </a:prstGeom>
          <a:solidFill>
            <a:schemeClr val="accent6"/>
          </a:solidFill>
          <a:ln w="12700">
            <a:solidFill>
              <a:schemeClr val="accent6"/>
            </a:solidFill>
            <a:prstDash val="solid"/>
          </a:ln>
        </p:spPr>
      </p:sp>
      <p:sp>
        <p:nvSpPr>
          <p:cNvPr id="7" name="Text 5"/>
          <p:cNvSpPr txBox="1"/>
          <p:nvPr/>
        </p:nvSpPr>
        <p:spPr>
          <a:xfrm>
            <a:off x="548640" y="4754880"/>
            <a:ext cx="2743200" cy="457200"/>
          </a:xfrm>
          <a:prstGeom prst="rect">
            <a:avLst/>
          </a:prstGeom>
          <a:noFill/>
          <a:ln/>
        </p:spPr>
        <p:txBody>
          <a:bodyPr wrap="square" lIns="0" tIns="0" rIns="0" bIns="0" rtlCol="0" anchor="ctr"/>
          <a:lstStyle/>
          <a:p>
            <a:pPr algn="ctr" indent="0" marL="0">
              <a:buNone/>
            </a:pPr>
            <a:r>
              <a:rPr lang="en-US" sz="1400" dirty="0">
                <a:solidFill>
                  <a:schemeClr val="bg1"/>
                </a:solidFill>
              </a:rPr>
              <a:t>IBM z17 · Telum II NNPA</a:t>
            </a:r>
            <a:endParaRPr lang="en-US" sz="1400" dirty="0"/>
          </a:p>
        </p:txBody>
      </p:sp>
      <p:sp>
        <p:nvSpPr>
          <p:cNvPr id="8" name="pill 2"/>
          <p:cNvSpPr/>
          <p:nvPr/>
        </p:nvSpPr>
        <p:spPr>
          <a:xfrm>
            <a:off x="3474720" y="4754880"/>
            <a:ext cx="3429000" cy="457200"/>
          </a:xfrm>
          <a:prstGeom prst="roundRect">
            <a:avLst>
              <a:gd name="adj" fmla="val 50000"/>
            </a:avLst>
          </a:prstGeom>
          <a:solidFill>
            <a:schemeClr val="accent6"/>
          </a:solidFill>
          <a:ln w="12700">
            <a:solidFill>
              <a:schemeClr val="accent6"/>
            </a:solidFill>
            <a:prstDash val="solid"/>
          </a:ln>
        </p:spPr>
      </p:sp>
      <p:sp>
        <p:nvSpPr>
          <p:cNvPr id="9" name="Text 7"/>
          <p:cNvSpPr txBox="1"/>
          <p:nvPr/>
        </p:nvSpPr>
        <p:spPr>
          <a:xfrm>
            <a:off x="3474720" y="4754880"/>
            <a:ext cx="3429000" cy="457200"/>
          </a:xfrm>
          <a:prstGeom prst="rect">
            <a:avLst/>
          </a:prstGeom>
          <a:noFill/>
          <a:ln/>
        </p:spPr>
        <p:txBody>
          <a:bodyPr wrap="square" lIns="0" tIns="0" rIns="0" bIns="0" rtlCol="0" anchor="ctr"/>
          <a:lstStyle/>
          <a:p>
            <a:pPr algn="ctr" indent="0" marL="0">
              <a:buNone/>
            </a:pPr>
            <a:r>
              <a:rPr lang="en-US" sz="1400" dirty="0">
                <a:solidFill>
                  <a:schemeClr val="bg1"/>
                </a:solidFill>
              </a:rPr>
              <a:t>PyTorch + XGBoost + IBM Granite</a:t>
            </a:r>
            <a:endParaRPr lang="en-US" sz="1400" dirty="0"/>
          </a:p>
        </p:txBody>
      </p:sp>
      <p:sp>
        <p:nvSpPr>
          <p:cNvPr id="10" name="pill 3"/>
          <p:cNvSpPr/>
          <p:nvPr/>
        </p:nvSpPr>
        <p:spPr>
          <a:xfrm>
            <a:off x="7086600" y="4754880"/>
            <a:ext cx="2926080" cy="457200"/>
          </a:xfrm>
          <a:prstGeom prst="roundRect">
            <a:avLst>
              <a:gd name="adj" fmla="val 50000"/>
            </a:avLst>
          </a:prstGeom>
          <a:solidFill>
            <a:schemeClr val="accent6"/>
          </a:solidFill>
          <a:ln w="12700">
            <a:solidFill>
              <a:schemeClr val="accent6"/>
            </a:solidFill>
            <a:prstDash val="solid"/>
          </a:ln>
        </p:spPr>
      </p:sp>
      <p:sp>
        <p:nvSpPr>
          <p:cNvPr id="11" name="Text 9"/>
          <p:cNvSpPr txBox="1"/>
          <p:nvPr/>
        </p:nvSpPr>
        <p:spPr>
          <a:xfrm>
            <a:off x="7086600" y="4754880"/>
            <a:ext cx="2926080" cy="457200"/>
          </a:xfrm>
          <a:prstGeom prst="rect">
            <a:avLst/>
          </a:prstGeom>
          <a:noFill/>
          <a:ln/>
        </p:spPr>
        <p:txBody>
          <a:bodyPr wrap="square" lIns="0" tIns="0" rIns="0" bIns="0" rtlCol="0" anchor="ctr"/>
          <a:lstStyle/>
          <a:p>
            <a:pPr algn="ctr" indent="0" marL="0">
              <a:buNone/>
            </a:pPr>
            <a:r>
              <a:rPr lang="en-US" sz="1400" dirty="0">
                <a:solidFill>
                  <a:schemeClr val="bg1"/>
                </a:solidFill>
              </a:rPr>
              <a:t>100% of payments checked</a:t>
            </a:r>
            <a:endParaRPr lang="en-US" sz="1400" dirty="0"/>
          </a:p>
        </p:txBody>
      </p:sp>
      <p:sp>
        <p:nvSpPr>
          <p:cNvPr id="12"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accent5"/>
                </a:solidFill>
              </a:rPr>
              <a:t>Live on the IBM LinuxONE Community Cloud · Team IBMBoB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PROBLEM</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Scam money is gone in minutes</a:t>
            </a:r>
            <a:endParaRPr lang="en-US" sz="3600" dirty="0"/>
          </a:p>
        </p:txBody>
      </p:sp>
      <p:sp>
        <p:nvSpPr>
          <p:cNvPr id="4" name="Text 2"/>
          <p:cNvSpPr txBox="1"/>
          <p:nvPr/>
        </p:nvSpPr>
        <p:spPr>
          <a:xfrm>
            <a:off x="548640" y="1783080"/>
            <a:ext cx="5120640" cy="1005840"/>
          </a:xfrm>
          <a:prstGeom prst="rect">
            <a:avLst/>
          </a:prstGeom>
          <a:noFill/>
          <a:ln/>
        </p:spPr>
        <p:txBody>
          <a:bodyPr wrap="square" lIns="0" tIns="0" rIns="0" bIns="0" rtlCol="0" anchor="t"/>
          <a:lstStyle/>
          <a:p>
            <a:pPr indent="0" marL="0">
              <a:buNone/>
            </a:pPr>
            <a:r>
              <a:rPr lang="en-US" sz="6600" b="1" dirty="0">
                <a:solidFill>
                  <a:schemeClr val="accent2"/>
                </a:solidFill>
              </a:rPr>
              <a:t>$2.03B</a:t>
            </a:r>
            <a:endParaRPr lang="en-US" sz="6600" dirty="0"/>
          </a:p>
        </p:txBody>
      </p:sp>
      <p:sp>
        <p:nvSpPr>
          <p:cNvPr id="5" name="Text 3"/>
          <p:cNvSpPr txBox="1"/>
          <p:nvPr/>
        </p:nvSpPr>
        <p:spPr>
          <a:xfrm>
            <a:off x="548640" y="2834640"/>
            <a:ext cx="5120640" cy="640080"/>
          </a:xfrm>
          <a:prstGeom prst="rect">
            <a:avLst/>
          </a:prstGeom>
          <a:noFill/>
          <a:ln/>
        </p:spPr>
        <p:txBody>
          <a:bodyPr wrap="square" lIns="0" tIns="0" rIns="0" bIns="0" rtlCol="0" anchor="t"/>
          <a:lstStyle/>
          <a:p>
            <a:pPr indent="0" marL="0">
              <a:buNone/>
            </a:pPr>
            <a:r>
              <a:rPr lang="en-US" sz="1800" dirty="0">
                <a:solidFill>
                  <a:schemeClr val="accent3"/>
                </a:solidFill>
              </a:rPr>
              <a:t>lost by Australians to scams </a:t>
            </a:r>
            <a:pPr indent="0" marL="0">
              <a:buNone/>
            </a:pPr>
            <a:r>
              <a:rPr lang="en-US" sz="1800" b="1" dirty="0">
                <a:solidFill>
                  <a:schemeClr val="accent3"/>
                </a:solidFill>
              </a:rPr>
              <a:t>in 2024</a:t>
            </a:r>
            <a:pPr indent="0" marL="0">
              <a:buNone/>
            </a:pPr>
            <a:r>
              <a:rPr lang="en-US" sz="1800" dirty="0">
                <a:solidFill>
                  <a:schemeClr val="accent3"/>
                </a:solidFill>
              </a:rPr>
              <a:t>, across 494,732 reports.</a:t>
            </a:r>
            <a:endParaRPr lang="en-US" sz="1800" dirty="0"/>
          </a:p>
        </p:txBody>
      </p:sp>
      <p:sp>
        <p:nvSpPr>
          <p:cNvPr id="6" name="Text 4"/>
          <p:cNvSpPr txBox="1"/>
          <p:nvPr/>
        </p:nvSpPr>
        <p:spPr>
          <a:xfrm>
            <a:off x="548640" y="3611880"/>
            <a:ext cx="5120640" cy="1188720"/>
          </a:xfrm>
          <a:prstGeom prst="rect">
            <a:avLst/>
          </a:prstGeom>
          <a:noFill/>
          <a:ln/>
        </p:spPr>
        <p:txBody>
          <a:bodyPr wrap="square" lIns="0" tIns="0" rIns="0" bIns="0" rtlCol="0" anchor="t"/>
          <a:lstStyle/>
          <a:p>
            <a:pPr indent="0" marL="0">
              <a:buNone/>
            </a:pPr>
            <a:r>
              <a:rPr lang="en-US" sz="1600" dirty="0">
                <a:solidFill>
                  <a:schemeClr val="tx2"/>
                </a:solidFill>
              </a:rPr>
              <a:t>The money moves through </a:t>
            </a:r>
            <a:pPr indent="0" marL="0">
              <a:buNone/>
            </a:pPr>
            <a:r>
              <a:rPr lang="en-US" sz="1600" b="1" dirty="0">
                <a:solidFill>
                  <a:schemeClr val="tx1"/>
                </a:solidFill>
              </a:rPr>
              <a:t>mule accounts</a:t>
            </a:r>
            <a:pPr indent="0" marL="0">
              <a:buNone/>
            </a:pPr>
            <a:r>
              <a:rPr lang="en-US" sz="1600" dirty="0">
                <a:solidFill>
                  <a:schemeClr val="tx2"/>
                </a:solidFill>
              </a:rPr>
              <a:t> within minutes and is rarely recovered. The </a:t>
            </a:r>
            <a:pPr indent="0" marL="0">
              <a:buNone/>
            </a:pPr>
            <a:r>
              <a:rPr lang="en-US" sz="1600" b="1" dirty="0">
                <a:solidFill>
                  <a:schemeClr val="tx1"/>
                </a:solidFill>
              </a:rPr>
              <a:t>Scams Prevention Framework</a:t>
            </a:r>
            <a:pPr indent="0" marL="0">
              <a:buNone/>
            </a:pPr>
            <a:r>
              <a:rPr lang="en-US" sz="1600" dirty="0">
                <a:solidFill>
                  <a:schemeClr val="tx2"/>
                </a:solidFill>
              </a:rPr>
              <a:t> (2025) requires banks to detect, disrupt and respond.</a:t>
            </a:r>
            <a:endParaRPr lang="en-US" sz="1600" dirty="0"/>
          </a:p>
        </p:txBody>
      </p:sp>
      <p:sp>
        <p:nvSpPr>
          <p:cNvPr id="7" name="Text 5"/>
          <p:cNvSpPr txBox="1"/>
          <p:nvPr/>
        </p:nvSpPr>
        <p:spPr>
          <a:xfrm>
            <a:off x="548640" y="4937760"/>
            <a:ext cx="5120640" cy="731520"/>
          </a:xfrm>
          <a:prstGeom prst="rect">
            <a:avLst/>
          </a:prstGeom>
          <a:noFill/>
          <a:ln/>
        </p:spPr>
        <p:txBody>
          <a:bodyPr wrap="square" lIns="0" tIns="0" rIns="0" bIns="0" rtlCol="0" anchor="t"/>
          <a:lstStyle/>
          <a:p>
            <a:pPr indent="0" marL="0">
              <a:buNone/>
            </a:pPr>
            <a:r>
              <a:rPr lang="en-US" sz="1600" dirty="0">
                <a:solidFill>
                  <a:schemeClr val="tx2"/>
                </a:solidFill>
              </a:rPr>
              <a:t>ScamShield's measurable job: </a:t>
            </a:r>
            <a:pPr indent="0" marL="0">
              <a:buNone/>
            </a:pPr>
            <a:r>
              <a:rPr lang="en-US" sz="1600" b="1" dirty="0">
                <a:solidFill>
                  <a:schemeClr val="tx1"/>
                </a:solidFill>
              </a:rPr>
              <a:t>break those mule chains</a:t>
            </a:r>
            <a:pPr indent="0" marL="0">
              <a:buNone/>
            </a:pPr>
            <a:r>
              <a:rPr lang="en-US" sz="1600" dirty="0">
                <a:solidFill>
                  <a:schemeClr val="tx2"/>
                </a:solidFill>
              </a:rPr>
              <a:t> before the money moves.</a:t>
            </a:r>
            <a:endParaRPr lang="en-US" sz="1600" dirty="0"/>
          </a:p>
        </p:txBody>
      </p:sp>
      <p:sp>
        <p:nvSpPr>
          <p:cNvPr id="8" name="persona 1"/>
          <p:cNvSpPr/>
          <p:nvPr/>
        </p:nvSpPr>
        <p:spPr>
          <a:xfrm>
            <a:off x="6309360" y="1783080"/>
            <a:ext cx="5330952" cy="1828800"/>
          </a:xfrm>
          <a:prstGeom prst="roundRect">
            <a:avLst>
              <a:gd name="adj" fmla="val 6000"/>
            </a:avLst>
          </a:prstGeom>
          <a:solidFill>
            <a:schemeClr val="bg1"/>
          </a:solidFill>
          <a:ln w="12700">
            <a:solidFill>
              <a:schemeClr val="accent4"/>
            </a:solidFill>
            <a:prstDash val="solid"/>
          </a:ln>
        </p:spPr>
      </p:sp>
      <p:pic>
        <p:nvPicPr>
          <p:cNvPr id="9" name="persona icon 1" descr="preencoded.png">    </p:cNvPr>
          <p:cNvPicPr>
            <a:picLocks noChangeAspect="1"/>
          </p:cNvPicPr>
          <p:nvPr/>
        </p:nvPicPr>
        <p:blipFill>
          <a:blip r:embed="rId1"/>
          <a:stretch>
            <a:fillRect/>
          </a:stretch>
        </p:blipFill>
        <p:spPr>
          <a:xfrm>
            <a:off x="6583680" y="2075688"/>
            <a:ext cx="548640" cy="548640"/>
          </a:xfrm>
          <a:prstGeom prst="rect">
            <a:avLst/>
          </a:prstGeom>
        </p:spPr>
      </p:pic>
      <p:sp>
        <p:nvSpPr>
          <p:cNvPr id="10" name="Text 7"/>
          <p:cNvSpPr txBox="1"/>
          <p:nvPr/>
        </p:nvSpPr>
        <p:spPr>
          <a:xfrm>
            <a:off x="7406640" y="2039112"/>
            <a:ext cx="4023360" cy="274320"/>
          </a:xfrm>
          <a:prstGeom prst="rect">
            <a:avLst/>
          </a:prstGeom>
          <a:noFill/>
          <a:ln/>
        </p:spPr>
        <p:txBody>
          <a:bodyPr wrap="square" lIns="0" tIns="0" rIns="0" bIns="0" rtlCol="0" anchor="t"/>
          <a:lstStyle/>
          <a:p>
            <a:pPr indent="0" marL="0">
              <a:buNone/>
            </a:pPr>
            <a:r>
              <a:rPr lang="en-US" sz="1200" b="1" spc="100" kern="0" dirty="0">
                <a:solidFill>
                  <a:schemeClr val="accent1"/>
                </a:solidFill>
              </a:rPr>
              <a:t>PRIMARY PERSONA</a:t>
            </a:r>
            <a:endParaRPr lang="en-US" sz="1200" dirty="0"/>
          </a:p>
        </p:txBody>
      </p:sp>
      <p:sp>
        <p:nvSpPr>
          <p:cNvPr id="11" name="Text 8"/>
          <p:cNvSpPr txBox="1"/>
          <p:nvPr/>
        </p:nvSpPr>
        <p:spPr>
          <a:xfrm>
            <a:off x="7406640" y="2331720"/>
            <a:ext cx="4023360" cy="457200"/>
          </a:xfrm>
          <a:prstGeom prst="rect">
            <a:avLst/>
          </a:prstGeom>
          <a:noFill/>
          <a:ln/>
        </p:spPr>
        <p:txBody>
          <a:bodyPr wrap="square" lIns="0" tIns="0" rIns="0" bIns="0" rtlCol="0" anchor="t"/>
          <a:lstStyle/>
          <a:p>
            <a:pPr indent="0" marL="0">
              <a:buNone/>
            </a:pPr>
            <a:r>
              <a:rPr lang="en-US" sz="2400" b="1" dirty="0">
                <a:solidFill>
                  <a:schemeClr val="tx1"/>
                </a:solidFill>
              </a:rPr>
              <a:t>Bank customer</a:t>
            </a:r>
            <a:endParaRPr lang="en-US" sz="2400" dirty="0"/>
          </a:p>
        </p:txBody>
      </p:sp>
      <p:sp>
        <p:nvSpPr>
          <p:cNvPr id="12" name="Text 9"/>
          <p:cNvSpPr txBox="1"/>
          <p:nvPr/>
        </p:nvSpPr>
        <p:spPr>
          <a:xfrm>
            <a:off x="7406640" y="2834640"/>
            <a:ext cx="4023360" cy="640080"/>
          </a:xfrm>
          <a:prstGeom prst="rect">
            <a:avLst/>
          </a:prstGeom>
          <a:noFill/>
          <a:ln/>
        </p:spPr>
        <p:txBody>
          <a:bodyPr wrap="square" lIns="0" tIns="0" rIns="0" bIns="0" rtlCol="0" anchor="t"/>
          <a:lstStyle/>
          <a:p>
            <a:pPr indent="0" marL="0">
              <a:buNone/>
            </a:pPr>
            <a:r>
              <a:rPr lang="en-US" sz="1500" dirty="0">
                <a:solidFill>
                  <a:schemeClr val="tx2"/>
                </a:solidFill>
              </a:rPr>
              <a:t>Being talked into sending money. Needs a clear warning before it leaves.</a:t>
            </a:r>
            <a:endParaRPr lang="en-US" sz="1500" dirty="0"/>
          </a:p>
        </p:txBody>
      </p:sp>
      <p:sp>
        <p:nvSpPr>
          <p:cNvPr id="13" name="persona 2"/>
          <p:cNvSpPr/>
          <p:nvPr/>
        </p:nvSpPr>
        <p:spPr>
          <a:xfrm>
            <a:off x="6309360" y="3840480"/>
            <a:ext cx="5330952" cy="1828800"/>
          </a:xfrm>
          <a:prstGeom prst="roundRect">
            <a:avLst>
              <a:gd name="adj" fmla="val 6000"/>
            </a:avLst>
          </a:prstGeom>
          <a:solidFill>
            <a:schemeClr val="bg1"/>
          </a:solidFill>
          <a:ln w="12700">
            <a:solidFill>
              <a:schemeClr val="accent4"/>
            </a:solidFill>
            <a:prstDash val="solid"/>
          </a:ln>
        </p:spPr>
      </p:sp>
      <p:pic>
        <p:nvPicPr>
          <p:cNvPr id="14" name="persona icon 2" descr="preencoded.png">    </p:cNvPr>
          <p:cNvPicPr>
            <a:picLocks noChangeAspect="1"/>
          </p:cNvPicPr>
          <p:nvPr/>
        </p:nvPicPr>
        <p:blipFill>
          <a:blip r:embed="rId2"/>
          <a:stretch>
            <a:fillRect/>
          </a:stretch>
        </p:blipFill>
        <p:spPr>
          <a:xfrm>
            <a:off x="6583680" y="4133088"/>
            <a:ext cx="548640" cy="548640"/>
          </a:xfrm>
          <a:prstGeom prst="rect">
            <a:avLst/>
          </a:prstGeom>
        </p:spPr>
      </p:pic>
      <p:sp>
        <p:nvSpPr>
          <p:cNvPr id="15" name="Text 11"/>
          <p:cNvSpPr txBox="1"/>
          <p:nvPr/>
        </p:nvSpPr>
        <p:spPr>
          <a:xfrm>
            <a:off x="7406640" y="4096512"/>
            <a:ext cx="4023360" cy="274320"/>
          </a:xfrm>
          <a:prstGeom prst="rect">
            <a:avLst/>
          </a:prstGeom>
          <a:noFill/>
          <a:ln/>
        </p:spPr>
        <p:txBody>
          <a:bodyPr wrap="square" lIns="0" tIns="0" rIns="0" bIns="0" rtlCol="0" anchor="t"/>
          <a:lstStyle/>
          <a:p>
            <a:pPr indent="0" marL="0">
              <a:buNone/>
            </a:pPr>
            <a:r>
              <a:rPr lang="en-US" sz="1200" b="1" spc="100" kern="0" dirty="0">
                <a:solidFill>
                  <a:schemeClr val="accent2"/>
                </a:solidFill>
              </a:rPr>
              <a:t>SECONDARY PERSONA</a:t>
            </a:r>
            <a:endParaRPr lang="en-US" sz="1200" dirty="0"/>
          </a:p>
        </p:txBody>
      </p:sp>
      <p:sp>
        <p:nvSpPr>
          <p:cNvPr id="16" name="Text 12"/>
          <p:cNvSpPr txBox="1"/>
          <p:nvPr/>
        </p:nvSpPr>
        <p:spPr>
          <a:xfrm>
            <a:off x="7406640" y="4389120"/>
            <a:ext cx="4023360" cy="457200"/>
          </a:xfrm>
          <a:prstGeom prst="rect">
            <a:avLst/>
          </a:prstGeom>
          <a:noFill/>
          <a:ln/>
        </p:spPr>
        <p:txBody>
          <a:bodyPr wrap="square" lIns="0" tIns="0" rIns="0" bIns="0" rtlCol="0" anchor="t"/>
          <a:lstStyle/>
          <a:p>
            <a:pPr indent="0" marL="0">
              <a:buNone/>
            </a:pPr>
            <a:r>
              <a:rPr lang="en-US" sz="2400" b="1" dirty="0">
                <a:solidFill>
                  <a:schemeClr val="tx1"/>
                </a:solidFill>
              </a:rPr>
              <a:t>Bank scam analyst</a:t>
            </a:r>
            <a:endParaRPr lang="en-US" sz="2400" dirty="0"/>
          </a:p>
        </p:txBody>
      </p:sp>
      <p:sp>
        <p:nvSpPr>
          <p:cNvPr id="17" name="Text 13"/>
          <p:cNvSpPr txBox="1"/>
          <p:nvPr/>
        </p:nvSpPr>
        <p:spPr>
          <a:xfrm>
            <a:off x="7406640" y="4892040"/>
            <a:ext cx="4023360" cy="640080"/>
          </a:xfrm>
          <a:prstGeom prst="rect">
            <a:avLst/>
          </a:prstGeom>
          <a:noFill/>
          <a:ln/>
        </p:spPr>
        <p:txBody>
          <a:bodyPr wrap="square" lIns="0" tIns="0" rIns="0" bIns="0" rtlCol="0" anchor="t"/>
          <a:lstStyle/>
          <a:p>
            <a:pPr indent="0" marL="0">
              <a:buNone/>
            </a:pPr>
            <a:r>
              <a:rPr lang="en-US" sz="1500" dirty="0">
                <a:solidFill>
                  <a:schemeClr val="tx2"/>
                </a:solidFill>
              </a:rPr>
              <a:t>Limited caseload. Needs the few risky payments, with evidence.</a:t>
            </a:r>
            <a:endParaRPr lang="en-US" sz="1500" dirty="0"/>
          </a:p>
        </p:txBody>
      </p:sp>
      <p:sp>
        <p:nvSpPr>
          <p:cNvPr id="18"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Source: National Anti-Scam Centre / ACCC, Targeting Scams 2024 · proven on IBM AMLworld synthetic payments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THE SOLUTION</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Three actions, decided in milliseconds</a:t>
            </a:r>
            <a:endParaRPr lang="en-US" sz="3600" dirty="0"/>
          </a:p>
        </p:txBody>
      </p:sp>
      <p:sp>
        <p:nvSpPr>
          <p:cNvPr id="4" name="ALLOW card"/>
          <p:cNvSpPr/>
          <p:nvPr/>
        </p:nvSpPr>
        <p:spPr>
          <a:xfrm>
            <a:off x="548640" y="1691640"/>
            <a:ext cx="3515258" cy="3611880"/>
          </a:xfrm>
          <a:prstGeom prst="roundRect">
            <a:avLst>
              <a:gd name="adj" fmla="val 3121"/>
            </a:avLst>
          </a:prstGeom>
          <a:solidFill>
            <a:schemeClr val="bg1"/>
          </a:solidFill>
          <a:ln w="12700">
            <a:solidFill>
              <a:schemeClr val="accent4"/>
            </a:solidFill>
            <a:prstDash val="solid"/>
          </a:ln>
        </p:spPr>
      </p:sp>
      <p:sp>
        <p:nvSpPr>
          <p:cNvPr id="5" name="Text 3"/>
          <p:cNvSpPr txBox="1"/>
          <p:nvPr/>
        </p:nvSpPr>
        <p:spPr>
          <a:xfrm>
            <a:off x="868680" y="1965960"/>
            <a:ext cx="2875178" cy="365760"/>
          </a:xfrm>
          <a:prstGeom prst="rect">
            <a:avLst/>
          </a:prstGeom>
          <a:noFill/>
          <a:ln/>
        </p:spPr>
        <p:txBody>
          <a:bodyPr wrap="square" lIns="0" tIns="0" rIns="0" bIns="0" rtlCol="0" anchor="t"/>
          <a:lstStyle/>
          <a:p>
            <a:pPr indent="0" marL="0">
              <a:buNone/>
            </a:pPr>
            <a:r>
              <a:rPr lang="en-US" sz="1800" b="1" spc="200" kern="0" dirty="0">
                <a:solidFill>
                  <a:schemeClr val="tx2"/>
                </a:solidFill>
              </a:rPr>
              <a:t>ALLOW</a:t>
            </a:r>
            <a:endParaRPr lang="en-US" sz="1800" dirty="0"/>
          </a:p>
        </p:txBody>
      </p:sp>
      <p:sp>
        <p:nvSpPr>
          <p:cNvPr id="6" name="Text 4"/>
          <p:cNvSpPr txBox="1"/>
          <p:nvPr/>
        </p:nvSpPr>
        <p:spPr>
          <a:xfrm>
            <a:off x="868680" y="2377440"/>
            <a:ext cx="2875178" cy="777240"/>
          </a:xfrm>
          <a:prstGeom prst="rect">
            <a:avLst/>
          </a:prstGeom>
          <a:noFill/>
          <a:ln/>
        </p:spPr>
        <p:txBody>
          <a:bodyPr wrap="square" lIns="0" tIns="0" rIns="0" bIns="0" rtlCol="0" anchor="t"/>
          <a:lstStyle/>
          <a:p>
            <a:pPr indent="0" marL="0">
              <a:buNone/>
            </a:pPr>
            <a:r>
              <a:rPr lang="en-US" sz="4800" b="1" dirty="0">
                <a:solidFill>
                  <a:schemeClr val="tx1"/>
                </a:solidFill>
              </a:rPr>
              <a:t>98.26%</a:t>
            </a:r>
            <a:endParaRPr lang="en-US" sz="4800" dirty="0"/>
          </a:p>
        </p:txBody>
      </p:sp>
      <p:sp>
        <p:nvSpPr>
          <p:cNvPr id="7" name="Text 5"/>
          <p:cNvSpPr txBox="1"/>
          <p:nvPr/>
        </p:nvSpPr>
        <p:spPr>
          <a:xfrm>
            <a:off x="868680" y="3154680"/>
            <a:ext cx="2875178" cy="274320"/>
          </a:xfrm>
          <a:prstGeom prst="rect">
            <a:avLst/>
          </a:prstGeom>
          <a:noFill/>
          <a:ln/>
        </p:spPr>
        <p:txBody>
          <a:bodyPr wrap="square" lIns="0" tIns="0" rIns="0" bIns="0" rtlCol="0" anchor="t"/>
          <a:lstStyle/>
          <a:p>
            <a:pPr indent="0" marL="0">
              <a:buNone/>
            </a:pPr>
            <a:r>
              <a:rPr lang="en-US" sz="1300" dirty="0">
                <a:solidFill>
                  <a:schemeClr val="tx2"/>
                </a:solidFill>
              </a:rPr>
              <a:t>of test-day payments</a:t>
            </a:r>
            <a:endParaRPr lang="en-US" sz="1300" dirty="0"/>
          </a:p>
        </p:txBody>
      </p:sp>
      <p:sp>
        <p:nvSpPr>
          <p:cNvPr id="8" name="Text 6"/>
          <p:cNvSpPr txBox="1"/>
          <p:nvPr/>
        </p:nvSpPr>
        <p:spPr>
          <a:xfrm>
            <a:off x="868680" y="3566160"/>
            <a:ext cx="2875178" cy="822960"/>
          </a:xfrm>
          <a:prstGeom prst="rect">
            <a:avLst/>
          </a:prstGeom>
          <a:noFill/>
          <a:ln/>
        </p:spPr>
        <p:txBody>
          <a:bodyPr wrap="square" lIns="0" tIns="0" rIns="0" bIns="0" rtlCol="0" anchor="t"/>
          <a:lstStyle/>
          <a:p>
            <a:pPr indent="0" marL="0">
              <a:buNone/>
            </a:pPr>
            <a:r>
              <a:rPr lang="en-US" sz="1700" dirty="0">
                <a:solidFill>
                  <a:schemeClr val="accent3"/>
                </a:solidFill>
              </a:rPr>
              <a:t>Nothing unusual. Goes straight through.</a:t>
            </a:r>
            <a:endParaRPr lang="en-US" sz="1700" dirty="0"/>
          </a:p>
        </p:txBody>
      </p:sp>
      <p:sp>
        <p:nvSpPr>
          <p:cNvPr id="9" name="Text 7"/>
          <p:cNvSpPr txBox="1"/>
          <p:nvPr/>
        </p:nvSpPr>
        <p:spPr>
          <a:xfrm>
            <a:off x="868680" y="4434840"/>
            <a:ext cx="2875178" cy="685800"/>
          </a:xfrm>
          <a:prstGeom prst="rect">
            <a:avLst/>
          </a:prstGeom>
          <a:noFill/>
          <a:ln/>
        </p:spPr>
        <p:txBody>
          <a:bodyPr wrap="square" lIns="0" tIns="0" rIns="0" bIns="0" rtlCol="0" anchor="t"/>
          <a:lstStyle/>
          <a:p>
            <a:pPr indent="0" marL="0">
              <a:buNone/>
            </a:pPr>
            <a:r>
              <a:rPr lang="en-US" sz="1400" dirty="0">
                <a:solidFill>
                  <a:schemeClr val="tx2"/>
                </a:solidFill>
              </a:rPr>
              <a:t>Nobody needs to act.</a:t>
            </a:r>
            <a:endParaRPr lang="en-US" sz="1400" dirty="0"/>
          </a:p>
        </p:txBody>
      </p:sp>
      <p:sp>
        <p:nvSpPr>
          <p:cNvPr id="10" name="WARN card"/>
          <p:cNvSpPr/>
          <p:nvPr/>
        </p:nvSpPr>
        <p:spPr>
          <a:xfrm>
            <a:off x="4338218" y="1691640"/>
            <a:ext cx="3515258" cy="3611880"/>
          </a:xfrm>
          <a:prstGeom prst="roundRect">
            <a:avLst>
              <a:gd name="adj" fmla="val 3121"/>
            </a:avLst>
          </a:prstGeom>
          <a:solidFill>
            <a:schemeClr val="bg1"/>
          </a:solidFill>
          <a:ln w="12700">
            <a:solidFill>
              <a:schemeClr val="accent4"/>
            </a:solidFill>
            <a:prstDash val="solid"/>
          </a:ln>
        </p:spPr>
      </p:sp>
      <p:sp>
        <p:nvSpPr>
          <p:cNvPr id="11" name="Text 9"/>
          <p:cNvSpPr txBox="1"/>
          <p:nvPr/>
        </p:nvSpPr>
        <p:spPr>
          <a:xfrm>
            <a:off x="4658258" y="1965960"/>
            <a:ext cx="2875178" cy="365760"/>
          </a:xfrm>
          <a:prstGeom prst="rect">
            <a:avLst/>
          </a:prstGeom>
          <a:noFill/>
          <a:ln/>
        </p:spPr>
        <p:txBody>
          <a:bodyPr wrap="square" lIns="0" tIns="0" rIns="0" bIns="0" rtlCol="0" anchor="t"/>
          <a:lstStyle/>
          <a:p>
            <a:pPr indent="0" marL="0">
              <a:buNone/>
            </a:pPr>
            <a:r>
              <a:rPr lang="en-US" sz="1800" b="1" spc="200" kern="0" dirty="0">
                <a:solidFill>
                  <a:schemeClr val="accent1"/>
                </a:solidFill>
              </a:rPr>
              <a:t>WARN</a:t>
            </a:r>
            <a:endParaRPr lang="en-US" sz="1800" dirty="0"/>
          </a:p>
        </p:txBody>
      </p:sp>
      <p:sp>
        <p:nvSpPr>
          <p:cNvPr id="12" name="Text 10"/>
          <p:cNvSpPr txBox="1"/>
          <p:nvPr/>
        </p:nvSpPr>
        <p:spPr>
          <a:xfrm>
            <a:off x="4658258" y="2377440"/>
            <a:ext cx="2875178" cy="777240"/>
          </a:xfrm>
          <a:prstGeom prst="rect">
            <a:avLst/>
          </a:prstGeom>
          <a:noFill/>
          <a:ln/>
        </p:spPr>
        <p:txBody>
          <a:bodyPr wrap="square" lIns="0" tIns="0" rIns="0" bIns="0" rtlCol="0" anchor="t"/>
          <a:lstStyle/>
          <a:p>
            <a:pPr indent="0" marL="0">
              <a:buNone/>
            </a:pPr>
            <a:r>
              <a:rPr lang="en-US" sz="4800" b="1" dirty="0">
                <a:solidFill>
                  <a:schemeClr val="tx1"/>
                </a:solidFill>
              </a:rPr>
              <a:t>1.66%</a:t>
            </a:r>
            <a:endParaRPr lang="en-US" sz="4800" dirty="0"/>
          </a:p>
        </p:txBody>
      </p:sp>
      <p:sp>
        <p:nvSpPr>
          <p:cNvPr id="13" name="Text 11"/>
          <p:cNvSpPr txBox="1"/>
          <p:nvPr/>
        </p:nvSpPr>
        <p:spPr>
          <a:xfrm>
            <a:off x="4658258" y="3154680"/>
            <a:ext cx="2875178" cy="274320"/>
          </a:xfrm>
          <a:prstGeom prst="rect">
            <a:avLst/>
          </a:prstGeom>
          <a:noFill/>
          <a:ln/>
        </p:spPr>
        <p:txBody>
          <a:bodyPr wrap="square" lIns="0" tIns="0" rIns="0" bIns="0" rtlCol="0" anchor="t"/>
          <a:lstStyle/>
          <a:p>
            <a:pPr indent="0" marL="0">
              <a:buNone/>
            </a:pPr>
            <a:r>
              <a:rPr lang="en-US" sz="1300" dirty="0">
                <a:solidFill>
                  <a:schemeClr val="tx2"/>
                </a:solidFill>
              </a:rPr>
              <a:t>of test-day payments</a:t>
            </a:r>
            <a:endParaRPr lang="en-US" sz="1300" dirty="0"/>
          </a:p>
        </p:txBody>
      </p:sp>
      <p:sp>
        <p:nvSpPr>
          <p:cNvPr id="14" name="Text 12"/>
          <p:cNvSpPr txBox="1"/>
          <p:nvPr/>
        </p:nvSpPr>
        <p:spPr>
          <a:xfrm>
            <a:off x="4658258" y="3566160"/>
            <a:ext cx="2875178" cy="822960"/>
          </a:xfrm>
          <a:prstGeom prst="rect">
            <a:avLst/>
          </a:prstGeom>
          <a:noFill/>
          <a:ln/>
        </p:spPr>
        <p:txBody>
          <a:bodyPr wrap="square" lIns="0" tIns="0" rIns="0" bIns="0" rtlCol="0" anchor="t"/>
          <a:lstStyle/>
          <a:p>
            <a:pPr indent="0" marL="0">
              <a:buNone/>
            </a:pPr>
            <a:r>
              <a:rPr lang="en-US" sz="1700" dirty="0">
                <a:solidFill>
                  <a:schemeClr val="accent3"/>
                </a:solidFill>
              </a:rPr>
              <a:t>Risky, out of character, or a big first payment to a new payee.</a:t>
            </a:r>
            <a:endParaRPr lang="en-US" sz="1700" dirty="0"/>
          </a:p>
        </p:txBody>
      </p:sp>
      <p:sp>
        <p:nvSpPr>
          <p:cNvPr id="15" name="Text 13"/>
          <p:cNvSpPr txBox="1"/>
          <p:nvPr/>
        </p:nvSpPr>
        <p:spPr>
          <a:xfrm>
            <a:off x="4658258" y="4434840"/>
            <a:ext cx="2875178" cy="685800"/>
          </a:xfrm>
          <a:prstGeom prst="rect">
            <a:avLst/>
          </a:prstGeom>
          <a:noFill/>
          <a:ln/>
        </p:spPr>
        <p:txBody>
          <a:bodyPr wrap="square" lIns="0" tIns="0" rIns="0" bIns="0" rtlCol="0" anchor="t"/>
          <a:lstStyle/>
          <a:p>
            <a:pPr indent="0" marL="0">
              <a:buNone/>
            </a:pPr>
            <a:r>
              <a:rPr lang="en-US" sz="1400" dirty="0">
                <a:solidFill>
                  <a:schemeClr val="tx2"/>
                </a:solidFill>
              </a:rPr>
              <a:t>Customer gets a specific warning. They decide.</a:t>
            </a:r>
            <a:endParaRPr lang="en-US" sz="1400" dirty="0"/>
          </a:p>
        </p:txBody>
      </p:sp>
      <p:sp>
        <p:nvSpPr>
          <p:cNvPr id="16" name="HOLD card"/>
          <p:cNvSpPr/>
          <p:nvPr/>
        </p:nvSpPr>
        <p:spPr>
          <a:xfrm>
            <a:off x="8127797" y="1691640"/>
            <a:ext cx="3515258" cy="3611880"/>
          </a:xfrm>
          <a:prstGeom prst="roundRect">
            <a:avLst>
              <a:gd name="adj" fmla="val 3121"/>
            </a:avLst>
          </a:prstGeom>
          <a:solidFill>
            <a:schemeClr val="bg1"/>
          </a:solidFill>
          <a:ln w="12700">
            <a:solidFill>
              <a:schemeClr val="accent4"/>
            </a:solidFill>
            <a:prstDash val="solid"/>
          </a:ln>
        </p:spPr>
      </p:sp>
      <p:sp>
        <p:nvSpPr>
          <p:cNvPr id="17" name="Text 15"/>
          <p:cNvSpPr txBox="1"/>
          <p:nvPr/>
        </p:nvSpPr>
        <p:spPr>
          <a:xfrm>
            <a:off x="8447837" y="1965960"/>
            <a:ext cx="2875178" cy="365760"/>
          </a:xfrm>
          <a:prstGeom prst="rect">
            <a:avLst/>
          </a:prstGeom>
          <a:noFill/>
          <a:ln/>
        </p:spPr>
        <p:txBody>
          <a:bodyPr wrap="square" lIns="0" tIns="0" rIns="0" bIns="0" rtlCol="0" anchor="t"/>
          <a:lstStyle/>
          <a:p>
            <a:pPr indent="0" marL="0">
              <a:buNone/>
            </a:pPr>
            <a:r>
              <a:rPr lang="en-US" sz="1800" b="1" spc="200" kern="0" dirty="0">
                <a:solidFill>
                  <a:schemeClr val="accent2"/>
                </a:solidFill>
              </a:rPr>
              <a:t>HOLD</a:t>
            </a:r>
            <a:endParaRPr lang="en-US" sz="1800" dirty="0"/>
          </a:p>
        </p:txBody>
      </p:sp>
      <p:sp>
        <p:nvSpPr>
          <p:cNvPr id="18" name="Text 16"/>
          <p:cNvSpPr txBox="1"/>
          <p:nvPr/>
        </p:nvSpPr>
        <p:spPr>
          <a:xfrm>
            <a:off x="8447837" y="2377440"/>
            <a:ext cx="2875178" cy="777240"/>
          </a:xfrm>
          <a:prstGeom prst="rect">
            <a:avLst/>
          </a:prstGeom>
          <a:noFill/>
          <a:ln/>
        </p:spPr>
        <p:txBody>
          <a:bodyPr wrap="square" lIns="0" tIns="0" rIns="0" bIns="0" rtlCol="0" anchor="t"/>
          <a:lstStyle/>
          <a:p>
            <a:pPr indent="0" marL="0">
              <a:buNone/>
            </a:pPr>
            <a:r>
              <a:rPr lang="en-US" sz="4800" b="1" dirty="0">
                <a:solidFill>
                  <a:schemeClr val="tx1"/>
                </a:solidFill>
              </a:rPr>
              <a:t>0.074%</a:t>
            </a:r>
            <a:endParaRPr lang="en-US" sz="4800" dirty="0"/>
          </a:p>
        </p:txBody>
      </p:sp>
      <p:sp>
        <p:nvSpPr>
          <p:cNvPr id="19" name="Text 17"/>
          <p:cNvSpPr txBox="1"/>
          <p:nvPr/>
        </p:nvSpPr>
        <p:spPr>
          <a:xfrm>
            <a:off x="8447837" y="3154680"/>
            <a:ext cx="2875178" cy="274320"/>
          </a:xfrm>
          <a:prstGeom prst="rect">
            <a:avLst/>
          </a:prstGeom>
          <a:noFill/>
          <a:ln/>
        </p:spPr>
        <p:txBody>
          <a:bodyPr wrap="square" lIns="0" tIns="0" rIns="0" bIns="0" rtlCol="0" anchor="t"/>
          <a:lstStyle/>
          <a:p>
            <a:pPr indent="0" marL="0">
              <a:buNone/>
            </a:pPr>
            <a:r>
              <a:rPr lang="en-US" sz="1300" dirty="0">
                <a:solidFill>
                  <a:schemeClr val="tx2"/>
                </a:solidFill>
              </a:rPr>
              <a:t>of test-day payments</a:t>
            </a:r>
            <a:endParaRPr lang="en-US" sz="1300" dirty="0"/>
          </a:p>
        </p:txBody>
      </p:sp>
      <p:sp>
        <p:nvSpPr>
          <p:cNvPr id="20" name="Text 18"/>
          <p:cNvSpPr txBox="1"/>
          <p:nvPr/>
        </p:nvSpPr>
        <p:spPr>
          <a:xfrm>
            <a:off x="8447837" y="3566160"/>
            <a:ext cx="2875178" cy="822960"/>
          </a:xfrm>
          <a:prstGeom prst="rect">
            <a:avLst/>
          </a:prstGeom>
          <a:noFill/>
          <a:ln/>
        </p:spPr>
        <p:txBody>
          <a:bodyPr wrap="square" lIns="0" tIns="0" rIns="0" bIns="0" rtlCol="0" anchor="t"/>
          <a:lstStyle/>
          <a:p>
            <a:pPr indent="0" marL="0">
              <a:buNone/>
            </a:pPr>
            <a:r>
              <a:rPr lang="en-US" sz="1700" dirty="0">
                <a:solidFill>
                  <a:schemeClr val="accent3"/>
                </a:solidFill>
              </a:rPr>
              <a:t>Strong mule-account match; borderline ones only from $5,000.</a:t>
            </a:r>
            <a:endParaRPr lang="en-US" sz="1700" dirty="0"/>
          </a:p>
        </p:txBody>
      </p:sp>
      <p:sp>
        <p:nvSpPr>
          <p:cNvPr id="21" name="Text 19"/>
          <p:cNvSpPr txBox="1"/>
          <p:nvPr/>
        </p:nvSpPr>
        <p:spPr>
          <a:xfrm>
            <a:off x="8447837" y="4434840"/>
            <a:ext cx="2875178" cy="685800"/>
          </a:xfrm>
          <a:prstGeom prst="rect">
            <a:avLst/>
          </a:prstGeom>
          <a:noFill/>
          <a:ln/>
        </p:spPr>
        <p:txBody>
          <a:bodyPr wrap="square" lIns="0" tIns="0" rIns="0" bIns="0" rtlCol="0" anchor="t"/>
          <a:lstStyle/>
          <a:p>
            <a:pPr indent="0" marL="0">
              <a:buNone/>
            </a:pPr>
            <a:r>
              <a:rPr lang="en-US" sz="1400" dirty="0">
                <a:solidFill>
                  <a:schemeClr val="tx2"/>
                </a:solidFill>
              </a:rPr>
              <a:t>Paused; an analyst calls back on a known number. A human decides.</a:t>
            </a:r>
            <a:endParaRPr lang="en-US" sz="1400" dirty="0"/>
          </a:p>
        </p:txBody>
      </p:sp>
      <p:sp>
        <p:nvSpPr>
          <p:cNvPr id="22" name="never block strip"/>
          <p:cNvSpPr/>
          <p:nvPr/>
        </p:nvSpPr>
        <p:spPr>
          <a:xfrm>
            <a:off x="548640" y="5532120"/>
            <a:ext cx="11094415" cy="566928"/>
          </a:xfrm>
          <a:prstGeom prst="roundRect">
            <a:avLst>
              <a:gd name="adj" fmla="val 19355"/>
            </a:avLst>
          </a:prstGeom>
          <a:solidFill>
            <a:schemeClr val="tx1"/>
          </a:solidFill>
          <a:ln w="12700">
            <a:solidFill>
              <a:schemeClr val="tx1"/>
            </a:solidFill>
            <a:prstDash val="solid"/>
          </a:ln>
        </p:spPr>
      </p:sp>
      <p:sp>
        <p:nvSpPr>
          <p:cNvPr id="23" name="Text 21"/>
          <p:cNvSpPr txBox="1"/>
          <p:nvPr/>
        </p:nvSpPr>
        <p:spPr>
          <a:xfrm>
            <a:off x="868680" y="5532120"/>
            <a:ext cx="10454335" cy="566928"/>
          </a:xfrm>
          <a:prstGeom prst="rect">
            <a:avLst/>
          </a:prstGeom>
          <a:noFill/>
          <a:ln/>
        </p:spPr>
        <p:txBody>
          <a:bodyPr wrap="square" lIns="0" tIns="0" rIns="0" bIns="0" rtlCol="0" anchor="ctr"/>
          <a:lstStyle/>
          <a:p>
            <a:pPr indent="0" marL="0">
              <a:buNone/>
            </a:pPr>
            <a:r>
              <a:rPr lang="en-US" sz="1700" b="1" dirty="0">
                <a:solidFill>
                  <a:schemeClr val="bg2"/>
                </a:solidFill>
              </a:rPr>
              <a:t>Warnings never block. </a:t>
            </a:r>
            <a:pPr indent="0" marL="0">
              <a:buNone/>
            </a:pPr>
            <a:r>
              <a:rPr lang="en-US" sz="1700" dirty="0">
                <a:solidFill>
                  <a:schemeClr val="bg2"/>
                </a:solidFill>
              </a:rPr>
              <a:t>Nothing is reported, frozen or refused automatically.</a:t>
            </a:r>
            <a:endParaRPr lang="en-US" sz="1700" dirty="0"/>
          </a:p>
        </p:txBody>
      </p:sp>
      <p:sp>
        <p:nvSpPr>
          <p:cNvPr id="24"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Decision mix on unseen test days 9–10 Sep; thresholds tuned on validation days only (docs/MODEL_CARD.md)</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TECHNICAL DESIGN</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Architecture on IBM LinuxONE</a:t>
            </a:r>
            <a:endParaRPr lang="en-US" sz="3600" dirty="0"/>
          </a:p>
        </p:txBody>
      </p:sp>
      <p:sp>
        <p:nvSpPr>
          <p:cNvPr id="4" name="payment stream"/>
          <p:cNvSpPr/>
          <p:nvPr/>
        </p:nvSpPr>
        <p:spPr>
          <a:xfrm>
            <a:off x="548640" y="1691640"/>
            <a:ext cx="2103120" cy="3566160"/>
          </a:xfrm>
          <a:prstGeom prst="roundRect">
            <a:avLst>
              <a:gd name="adj" fmla="val 5217"/>
            </a:avLst>
          </a:prstGeom>
          <a:solidFill>
            <a:schemeClr val="bg1"/>
          </a:solidFill>
          <a:ln w="12700">
            <a:solidFill>
              <a:schemeClr val="accent4"/>
            </a:solidFill>
            <a:prstDash val="solid"/>
          </a:ln>
        </p:spPr>
      </p:sp>
      <p:pic>
        <p:nvPicPr>
          <p:cNvPr id="5" name="stream icon" descr="preencoded.png">    </p:cNvPr>
          <p:cNvPicPr>
            <a:picLocks noChangeAspect="1"/>
          </p:cNvPicPr>
          <p:nvPr/>
        </p:nvPicPr>
        <p:blipFill>
          <a:blip r:embed="rId1"/>
          <a:stretch>
            <a:fillRect/>
          </a:stretch>
        </p:blipFill>
        <p:spPr>
          <a:xfrm>
            <a:off x="822960" y="2057400"/>
            <a:ext cx="457200" cy="457200"/>
          </a:xfrm>
          <a:prstGeom prst="rect">
            <a:avLst/>
          </a:prstGeom>
        </p:spPr>
      </p:pic>
      <p:sp>
        <p:nvSpPr>
          <p:cNvPr id="6" name="Text 3"/>
          <p:cNvSpPr txBox="1"/>
          <p:nvPr/>
        </p:nvSpPr>
        <p:spPr>
          <a:xfrm>
            <a:off x="822960" y="2651760"/>
            <a:ext cx="1645920" cy="685800"/>
          </a:xfrm>
          <a:prstGeom prst="rect">
            <a:avLst/>
          </a:prstGeom>
          <a:noFill/>
          <a:ln/>
        </p:spPr>
        <p:txBody>
          <a:bodyPr wrap="square" lIns="0" tIns="0" rIns="0" bIns="0" rtlCol="0" anchor="t"/>
          <a:lstStyle/>
          <a:p>
            <a:pPr indent="0" marL="0">
              <a:buNone/>
            </a:pPr>
            <a:r>
              <a:rPr lang="en-US" sz="1800" b="1" dirty="0">
                <a:solidFill>
                  <a:schemeClr val="tx1"/>
                </a:solidFill>
              </a:rPr>
              <a:t>Payment stream</a:t>
            </a:r>
            <a:endParaRPr lang="en-US" sz="1800" dirty="0"/>
          </a:p>
        </p:txBody>
      </p:sp>
      <p:sp>
        <p:nvSpPr>
          <p:cNvPr id="7" name="Text 4"/>
          <p:cNvSpPr txBox="1"/>
          <p:nvPr/>
        </p:nvSpPr>
        <p:spPr>
          <a:xfrm>
            <a:off x="822960" y="3383280"/>
            <a:ext cx="1645920" cy="640080"/>
          </a:xfrm>
          <a:prstGeom prst="rect">
            <a:avLst/>
          </a:prstGeom>
          <a:noFill/>
          <a:ln/>
        </p:spPr>
        <p:txBody>
          <a:bodyPr wrap="square" lIns="0" tIns="0" rIns="0" bIns="0" rtlCol="0" anchor="t"/>
          <a:lstStyle/>
          <a:p>
            <a:pPr indent="0" marL="0">
              <a:buNone/>
            </a:pPr>
            <a:r>
              <a:rPr lang="en-US" sz="1400" dirty="0">
                <a:solidFill>
                  <a:schemeClr val="tx2"/>
                </a:solidFill>
              </a:rPr>
              <a:t>Core banking (simulated)</a:t>
            </a:r>
            <a:endParaRPr lang="en-US" sz="1400" dirty="0"/>
          </a:p>
        </p:txBody>
      </p:sp>
      <p:sp>
        <p:nvSpPr>
          <p:cNvPr id="8" name="Text 5"/>
          <p:cNvSpPr txBox="1"/>
          <p:nvPr/>
        </p:nvSpPr>
        <p:spPr>
          <a:xfrm>
            <a:off x="822960" y="4160520"/>
            <a:ext cx="1737360" cy="640080"/>
          </a:xfrm>
          <a:prstGeom prst="rect">
            <a:avLst/>
          </a:prstGeom>
          <a:noFill/>
          <a:ln/>
        </p:spPr>
        <p:txBody>
          <a:bodyPr wrap="square" lIns="0" tIns="0" rIns="0" bIns="0" rtlCol="0" anchor="t"/>
          <a:lstStyle/>
          <a:p>
            <a:pPr indent="0" marL="0">
              <a:buNone/>
            </a:pPr>
            <a:r>
              <a:rPr lang="en-US" sz="1200" dirty="0">
                <a:solidFill>
                  <a:schemeClr val="accent1"/>
                </a:solidFill>
                <a:latin typeface="Courier New" pitchFamily="34" charset="0"/>
                <a:ea typeface="Courier New" pitchFamily="34" charset="-122"/>
                <a:cs typeface="Courier New" pitchFamily="34" charset="-120"/>
              </a:rPr>
              <a:t>POST /payments</a:t>
            </a:r>
            <a:endParaRPr lang="en-US" sz="1200" dirty="0"/>
          </a:p>
          <a:p>
            <a:pPr indent="0" marL="0">
              <a:buNone/>
            </a:pPr>
            <a:r>
              <a:rPr lang="en-US" sz="1200" dirty="0">
                <a:solidFill>
                  <a:schemeClr val="accent1"/>
                </a:solidFill>
                <a:latin typeface="Courier New" pitchFamily="34" charset="0"/>
                <a:ea typeface="Courier New" pitchFamily="34" charset="-122"/>
                <a:cs typeface="Courier New" pitchFamily="34" charset="-120"/>
              </a:rPr>
              <a:t>/payments/batch</a:t>
            </a:r>
            <a:endParaRPr lang="en-US" sz="1200" dirty="0"/>
          </a:p>
        </p:txBody>
      </p:sp>
      <p:sp>
        <p:nvSpPr>
          <p:cNvPr id="9" name="arrow 1"/>
          <p:cNvSpPr/>
          <p:nvPr/>
        </p:nvSpPr>
        <p:spPr>
          <a:xfrm>
            <a:off x="2788920" y="3291840"/>
            <a:ext cx="411480" cy="292608"/>
          </a:xfrm>
          <a:prstGeom prst="rightArrow">
            <a:avLst/>
          </a:prstGeom>
          <a:solidFill>
            <a:srgbClr val="9AA3AF"/>
          </a:solidFill>
          <a:ln w="12700">
            <a:solidFill>
              <a:srgbClr val="9AA3AF"/>
            </a:solidFill>
            <a:prstDash val="solid"/>
          </a:ln>
        </p:spPr>
      </p:sp>
      <p:sp>
        <p:nvSpPr>
          <p:cNvPr id="10" name="scoring api"/>
          <p:cNvSpPr/>
          <p:nvPr/>
        </p:nvSpPr>
        <p:spPr>
          <a:xfrm>
            <a:off x="3291840" y="1691640"/>
            <a:ext cx="4846320" cy="3566160"/>
          </a:xfrm>
          <a:prstGeom prst="roundRect">
            <a:avLst>
              <a:gd name="adj" fmla="val 3077"/>
            </a:avLst>
          </a:prstGeom>
          <a:solidFill>
            <a:schemeClr val="bg1"/>
          </a:solidFill>
          <a:ln w="25400">
            <a:solidFill>
              <a:schemeClr val="tx1"/>
            </a:solidFill>
            <a:prstDash val="solid"/>
          </a:ln>
        </p:spPr>
      </p:sp>
      <p:sp>
        <p:nvSpPr>
          <p:cNvPr id="11" name="Text 8"/>
          <p:cNvSpPr txBox="1"/>
          <p:nvPr/>
        </p:nvSpPr>
        <p:spPr>
          <a:xfrm>
            <a:off x="3566160" y="1874520"/>
            <a:ext cx="4389120" cy="411480"/>
          </a:xfrm>
          <a:prstGeom prst="rect">
            <a:avLst/>
          </a:prstGeom>
          <a:noFill/>
          <a:ln/>
        </p:spPr>
        <p:txBody>
          <a:bodyPr wrap="square" lIns="0" tIns="0" rIns="0" bIns="0" rtlCol="0" anchor="t"/>
          <a:lstStyle/>
          <a:p>
            <a:pPr indent="0" marL="0">
              <a:buNone/>
            </a:pPr>
            <a:r>
              <a:rPr lang="en-US" sz="1800" b="1" dirty="0">
                <a:solidFill>
                  <a:schemeClr val="tx1"/>
                </a:solidFill>
              </a:rPr>
              <a:t>Scoring API · FastAPI</a:t>
            </a:r>
            <a:endParaRPr lang="en-US" sz="1800" dirty="0"/>
          </a:p>
        </p:txBody>
      </p:sp>
      <p:sp>
        <p:nvSpPr>
          <p:cNvPr id="12" name="Text 9"/>
          <p:cNvSpPr txBox="1"/>
          <p:nvPr/>
        </p:nvSpPr>
        <p:spPr>
          <a:xfrm>
            <a:off x="3566160" y="2377440"/>
            <a:ext cx="4343400" cy="292608"/>
          </a:xfrm>
          <a:prstGeom prst="rect">
            <a:avLst/>
          </a:prstGeom>
          <a:noFill/>
          <a:ln/>
        </p:spPr>
        <p:txBody>
          <a:bodyPr wrap="square" lIns="0" tIns="0" rIns="0" bIns="0" rtlCol="0" anchor="t"/>
          <a:lstStyle/>
          <a:p>
            <a:pPr indent="0" marL="0">
              <a:buNone/>
            </a:pPr>
            <a:r>
              <a:rPr lang="en-US" sz="1300" b="1" dirty="0">
                <a:solidFill>
                  <a:schemeClr val="tx1"/>
                </a:solidFill>
              </a:rPr>
              <a:t>1  </a:t>
            </a:r>
            <a:pPr indent="0" marL="0">
              <a:buNone/>
            </a:pPr>
            <a:r>
              <a:rPr lang="en-US" sz="1300" dirty="0">
                <a:solidFill>
                  <a:schemeClr val="accent3"/>
                </a:solidFill>
              </a:rPr>
              <a:t>Pseudonymise account numbers (HMAC-SHA256)</a:t>
            </a:r>
            <a:endParaRPr lang="en-US" sz="1300" dirty="0"/>
          </a:p>
        </p:txBody>
      </p:sp>
      <p:sp>
        <p:nvSpPr>
          <p:cNvPr id="13" name="Text 10"/>
          <p:cNvSpPr txBox="1"/>
          <p:nvPr/>
        </p:nvSpPr>
        <p:spPr>
          <a:xfrm>
            <a:off x="3566160" y="2697480"/>
            <a:ext cx="4343400" cy="548640"/>
          </a:xfrm>
          <a:prstGeom prst="rect">
            <a:avLst/>
          </a:prstGeom>
          <a:noFill/>
          <a:ln/>
        </p:spPr>
        <p:txBody>
          <a:bodyPr wrap="square" lIns="0" tIns="0" rIns="0" bIns="0" rtlCol="0" anchor="t"/>
          <a:lstStyle/>
          <a:p>
            <a:pPr indent="0" marL="0">
              <a:buNone/>
            </a:pPr>
            <a:r>
              <a:rPr lang="en-US" sz="1300" b="1" dirty="0">
                <a:solidFill>
                  <a:schemeClr val="tx1"/>
                </a:solidFill>
              </a:rPr>
              <a:t>2  </a:t>
            </a:r>
            <a:pPr indent="0" marL="0">
              <a:buNone/>
            </a:pPr>
            <a:r>
              <a:rPr lang="en-US" sz="1300" dirty="0">
                <a:solidFill>
                  <a:schemeClr val="accent3"/>
                </a:solidFill>
              </a:rPr>
              <a:t>One streaming feature engine: payment, payer and receiving-account (mule) history</a:t>
            </a:r>
            <a:endParaRPr lang="en-US" sz="1300" dirty="0"/>
          </a:p>
        </p:txBody>
      </p:sp>
      <p:sp>
        <p:nvSpPr>
          <p:cNvPr id="14" name="nnpa highlight"/>
          <p:cNvSpPr/>
          <p:nvPr/>
        </p:nvSpPr>
        <p:spPr>
          <a:xfrm>
            <a:off x="3493008" y="3236976"/>
            <a:ext cx="4498848" cy="603504"/>
          </a:xfrm>
          <a:prstGeom prst="roundRect">
            <a:avLst>
              <a:gd name="adj" fmla="val 12121"/>
            </a:avLst>
          </a:prstGeom>
          <a:solidFill>
            <a:srgbClr val="E3EBFB"/>
          </a:solidFill>
          <a:ln w="12700">
            <a:solidFill>
              <a:srgbClr val="E3EBFB"/>
            </a:solidFill>
            <a:prstDash val="solid"/>
          </a:ln>
        </p:spPr>
      </p:sp>
      <p:sp>
        <p:nvSpPr>
          <p:cNvPr id="15" name="Text 12"/>
          <p:cNvSpPr txBox="1"/>
          <p:nvPr/>
        </p:nvSpPr>
        <p:spPr>
          <a:xfrm>
            <a:off x="3566160" y="3291840"/>
            <a:ext cx="4343400" cy="548640"/>
          </a:xfrm>
          <a:prstGeom prst="rect">
            <a:avLst/>
          </a:prstGeom>
          <a:noFill/>
          <a:ln/>
        </p:spPr>
        <p:txBody>
          <a:bodyPr wrap="square" lIns="0" tIns="0" rIns="0" bIns="0" rtlCol="0" anchor="t"/>
          <a:lstStyle/>
          <a:p>
            <a:pPr indent="0" marL="0">
              <a:buNone/>
            </a:pPr>
            <a:r>
              <a:rPr lang="en-US" sz="1300" b="1" dirty="0">
                <a:solidFill>
                  <a:schemeClr val="tx1"/>
                </a:solidFill>
              </a:rPr>
              <a:t>3  </a:t>
            </a:r>
            <a:pPr indent="0" marL="0">
              <a:buNone/>
            </a:pPr>
            <a:r>
              <a:rPr lang="en-US" sz="1300" dirty="0">
                <a:solidFill>
                  <a:schemeClr val="accent3"/>
                </a:solidFill>
              </a:rPr>
              <a:t>Customer-behaviour autoencoder: PyTorch on Telum II NNPA (≥1,024 per call), else CPU</a:t>
            </a:r>
            <a:endParaRPr lang="en-US" sz="1300" dirty="0"/>
          </a:p>
        </p:txBody>
      </p:sp>
      <p:sp>
        <p:nvSpPr>
          <p:cNvPr id="16" name="Text 13"/>
          <p:cNvSpPr txBox="1"/>
          <p:nvPr/>
        </p:nvSpPr>
        <p:spPr>
          <a:xfrm>
            <a:off x="3566160" y="3886200"/>
            <a:ext cx="4343400" cy="292608"/>
          </a:xfrm>
          <a:prstGeom prst="rect">
            <a:avLst/>
          </a:prstGeom>
          <a:noFill/>
          <a:ln/>
        </p:spPr>
        <p:txBody>
          <a:bodyPr wrap="square" lIns="0" tIns="0" rIns="0" bIns="0" rtlCol="0" anchor="t"/>
          <a:lstStyle/>
          <a:p>
            <a:pPr indent="0" marL="0">
              <a:buNone/>
            </a:pPr>
            <a:r>
              <a:rPr lang="en-US" sz="1300" b="1" dirty="0">
                <a:solidFill>
                  <a:schemeClr val="tx1"/>
                </a:solidFill>
              </a:rPr>
              <a:t>4  </a:t>
            </a:r>
            <a:pPr indent="0" marL="0">
              <a:buNone/>
            </a:pPr>
            <a:r>
              <a:rPr lang="en-US" sz="1300" dirty="0">
                <a:solidFill>
                  <a:schemeClr val="accent3"/>
                </a:solidFill>
              </a:rPr>
              <a:t>Risk: XGBoost with SHAP drivers</a:t>
            </a:r>
            <a:endParaRPr lang="en-US" sz="1300" dirty="0"/>
          </a:p>
        </p:txBody>
      </p:sp>
      <p:sp>
        <p:nvSpPr>
          <p:cNvPr id="17" name="Text 14"/>
          <p:cNvSpPr txBox="1"/>
          <p:nvPr/>
        </p:nvSpPr>
        <p:spPr>
          <a:xfrm>
            <a:off x="3566160" y="4206240"/>
            <a:ext cx="4343400" cy="292608"/>
          </a:xfrm>
          <a:prstGeom prst="rect">
            <a:avLst/>
          </a:prstGeom>
          <a:noFill/>
          <a:ln/>
        </p:spPr>
        <p:txBody>
          <a:bodyPr wrap="square" lIns="0" tIns="0" rIns="0" bIns="0" rtlCol="0" anchor="t"/>
          <a:lstStyle/>
          <a:p>
            <a:pPr indent="0" marL="0">
              <a:buNone/>
            </a:pPr>
            <a:r>
              <a:rPr lang="en-US" sz="1300" b="1" dirty="0">
                <a:solidFill>
                  <a:schemeClr val="tx1"/>
                </a:solidFill>
              </a:rPr>
              <a:t>5  </a:t>
            </a:r>
            <a:pPr indent="0" marL="0">
              <a:buNone/>
            </a:pPr>
            <a:r>
              <a:rPr lang="en-US" sz="1300" dirty="0">
                <a:solidFill>
                  <a:schemeClr val="accent3"/>
                </a:solidFill>
              </a:rPr>
              <a:t>Rule: big first payment to a new payee</a:t>
            </a:r>
            <a:endParaRPr lang="en-US" sz="1300" dirty="0"/>
          </a:p>
        </p:txBody>
      </p:sp>
      <p:sp>
        <p:nvSpPr>
          <p:cNvPr id="18" name="Text 15"/>
          <p:cNvSpPr txBox="1"/>
          <p:nvPr/>
        </p:nvSpPr>
        <p:spPr>
          <a:xfrm>
            <a:off x="3566160" y="4526280"/>
            <a:ext cx="4343400" cy="548640"/>
          </a:xfrm>
          <a:prstGeom prst="rect">
            <a:avLst/>
          </a:prstGeom>
          <a:noFill/>
          <a:ln/>
        </p:spPr>
        <p:txBody>
          <a:bodyPr wrap="square" lIns="0" tIns="0" rIns="0" bIns="0" rtlCol="0" anchor="t"/>
          <a:lstStyle/>
          <a:p>
            <a:pPr indent="0" marL="0">
              <a:buNone/>
            </a:pPr>
            <a:r>
              <a:rPr lang="en-US" sz="1300" b="1" dirty="0">
                <a:solidFill>
                  <a:schemeClr val="tx1"/>
                </a:solidFill>
              </a:rPr>
              <a:t>6  </a:t>
            </a:r>
            <a:pPr indent="0" marL="0">
              <a:buNone/>
            </a:pPr>
            <a:r>
              <a:rPr lang="en-US" sz="1300" dirty="0">
                <a:solidFill>
                  <a:schemeClr val="accent3"/>
                </a:solidFill>
              </a:rPr>
              <a:t>Fusion → ALLOW | WARN | HOLD (borderline holds only from $5,000)</a:t>
            </a:r>
            <a:endParaRPr lang="en-US" sz="1300" dirty="0"/>
          </a:p>
        </p:txBody>
      </p:sp>
      <p:sp>
        <p:nvSpPr>
          <p:cNvPr id="19" name="arrow 2"/>
          <p:cNvSpPr/>
          <p:nvPr/>
        </p:nvSpPr>
        <p:spPr>
          <a:xfrm>
            <a:off x="8229600" y="3291840"/>
            <a:ext cx="411480" cy="292608"/>
          </a:xfrm>
          <a:prstGeom prst="rightArrow">
            <a:avLst/>
          </a:prstGeom>
          <a:solidFill>
            <a:srgbClr val="9AA3AF"/>
          </a:solidFill>
          <a:ln w="12700">
            <a:solidFill>
              <a:srgbClr val="9AA3AF"/>
            </a:solidFill>
            <a:prstDash val="solid"/>
          </a:ln>
        </p:spPr>
      </p:sp>
      <p:sp>
        <p:nvSpPr>
          <p:cNvPr id="20" name="store 1"/>
          <p:cNvSpPr/>
          <p:nvPr/>
        </p:nvSpPr>
        <p:spPr>
          <a:xfrm>
            <a:off x="8732520" y="1691640"/>
            <a:ext cx="2907792" cy="1097280"/>
          </a:xfrm>
          <a:prstGeom prst="roundRect">
            <a:avLst>
              <a:gd name="adj" fmla="val 10000"/>
            </a:avLst>
          </a:prstGeom>
          <a:solidFill>
            <a:schemeClr val="bg1"/>
          </a:solidFill>
          <a:ln w="12700">
            <a:solidFill>
              <a:schemeClr val="accent4"/>
            </a:solidFill>
            <a:prstDash val="solid"/>
          </a:ln>
        </p:spPr>
      </p:sp>
      <p:sp>
        <p:nvSpPr>
          <p:cNvPr id="21" name="Text 18"/>
          <p:cNvSpPr txBox="1"/>
          <p:nvPr/>
        </p:nvSpPr>
        <p:spPr>
          <a:xfrm>
            <a:off x="8961120" y="1856232"/>
            <a:ext cx="2560320" cy="320040"/>
          </a:xfrm>
          <a:prstGeom prst="rect">
            <a:avLst/>
          </a:prstGeom>
          <a:noFill/>
          <a:ln/>
        </p:spPr>
        <p:txBody>
          <a:bodyPr wrap="square" lIns="0" tIns="0" rIns="0" bIns="0" rtlCol="0" anchor="t"/>
          <a:lstStyle/>
          <a:p>
            <a:pPr indent="0" marL="0">
              <a:buNone/>
            </a:pPr>
            <a:r>
              <a:rPr lang="en-US" sz="1500" b="1" dirty="0">
                <a:solidFill>
                  <a:schemeClr val="tx1"/>
                </a:solidFill>
              </a:rPr>
              <a:t>Encrypted SQLite (WAL)</a:t>
            </a:r>
            <a:endParaRPr lang="en-US" sz="1500" dirty="0"/>
          </a:p>
        </p:txBody>
      </p:sp>
      <p:sp>
        <p:nvSpPr>
          <p:cNvPr id="22" name="Text 19"/>
          <p:cNvSpPr txBox="1"/>
          <p:nvPr/>
        </p:nvSpPr>
        <p:spPr>
          <a:xfrm>
            <a:off x="8961120" y="2194560"/>
            <a:ext cx="2560320" cy="502920"/>
          </a:xfrm>
          <a:prstGeom prst="rect">
            <a:avLst/>
          </a:prstGeom>
          <a:noFill/>
          <a:ln/>
        </p:spPr>
        <p:txBody>
          <a:bodyPr wrap="square" lIns="0" tIns="0" rIns="0" bIns="0" rtlCol="0" anchor="t"/>
          <a:lstStyle/>
          <a:p>
            <a:pPr indent="0" marL="0">
              <a:buNone/>
            </a:pPr>
            <a:r>
              <a:rPr lang="en-US" sz="1200" dirty="0">
                <a:solidFill>
                  <a:schemeClr val="tx2"/>
                </a:solidFill>
              </a:rPr>
              <a:t>AES-256-GCM payloads + hash-chained audit</a:t>
            </a:r>
            <a:endParaRPr lang="en-US" sz="1200" dirty="0"/>
          </a:p>
        </p:txBody>
      </p:sp>
      <p:sp>
        <p:nvSpPr>
          <p:cNvPr id="23" name="store 2"/>
          <p:cNvSpPr/>
          <p:nvPr/>
        </p:nvSpPr>
        <p:spPr>
          <a:xfrm>
            <a:off x="8732520" y="2907792"/>
            <a:ext cx="2907792" cy="1097280"/>
          </a:xfrm>
          <a:prstGeom prst="roundRect">
            <a:avLst>
              <a:gd name="adj" fmla="val 10000"/>
            </a:avLst>
          </a:prstGeom>
          <a:solidFill>
            <a:schemeClr val="bg1"/>
          </a:solidFill>
          <a:ln w="12700">
            <a:solidFill>
              <a:schemeClr val="accent4"/>
            </a:solidFill>
            <a:prstDash val="solid"/>
          </a:ln>
        </p:spPr>
      </p:sp>
      <p:sp>
        <p:nvSpPr>
          <p:cNvPr id="24" name="Text 21"/>
          <p:cNvSpPr txBox="1"/>
          <p:nvPr/>
        </p:nvSpPr>
        <p:spPr>
          <a:xfrm>
            <a:off x="8961120" y="3072384"/>
            <a:ext cx="2560320" cy="320040"/>
          </a:xfrm>
          <a:prstGeom prst="rect">
            <a:avLst/>
          </a:prstGeom>
          <a:noFill/>
          <a:ln/>
        </p:spPr>
        <p:txBody>
          <a:bodyPr wrap="square" lIns="0" tIns="0" rIns="0" bIns="0" rtlCol="0" anchor="t"/>
          <a:lstStyle/>
          <a:p>
            <a:pPr indent="0" marL="0">
              <a:buNone/>
            </a:pPr>
            <a:r>
              <a:rPr lang="en-US" sz="1500" b="1" dirty="0">
                <a:solidFill>
                  <a:schemeClr val="tx1"/>
                </a:solidFill>
              </a:rPr>
              <a:t>IBM Granite worker</a:t>
            </a:r>
            <a:endParaRPr lang="en-US" sz="1500" dirty="0"/>
          </a:p>
        </p:txBody>
      </p:sp>
      <p:sp>
        <p:nvSpPr>
          <p:cNvPr id="25" name="Text 22"/>
          <p:cNvSpPr txBox="1"/>
          <p:nvPr/>
        </p:nvSpPr>
        <p:spPr>
          <a:xfrm>
            <a:off x="8961120" y="3410712"/>
            <a:ext cx="2560320" cy="502920"/>
          </a:xfrm>
          <a:prstGeom prst="rect">
            <a:avLst/>
          </a:prstGeom>
          <a:noFill/>
          <a:ln/>
        </p:spPr>
        <p:txBody>
          <a:bodyPr wrap="square" lIns="0" tIns="0" rIns="0" bIns="0" rtlCol="0" anchor="t"/>
          <a:lstStyle/>
          <a:p>
            <a:pPr indent="0" marL="0">
              <a:buNone/>
            </a:pPr>
            <a:r>
              <a:rPr lang="en-US" sz="1200" dirty="0">
                <a:solidFill>
                  <a:schemeClr val="tx2"/>
                </a:solidFill>
              </a:rPr>
              <a:t>granite-3.3-2b-instruct, llama.cpp + zDNN, async</a:t>
            </a:r>
            <a:endParaRPr lang="en-US" sz="1200" dirty="0"/>
          </a:p>
        </p:txBody>
      </p:sp>
      <p:sp>
        <p:nvSpPr>
          <p:cNvPr id="26" name="store 3"/>
          <p:cNvSpPr/>
          <p:nvPr/>
        </p:nvSpPr>
        <p:spPr>
          <a:xfrm>
            <a:off x="8732520" y="4123944"/>
            <a:ext cx="2907792" cy="1097280"/>
          </a:xfrm>
          <a:prstGeom prst="roundRect">
            <a:avLst>
              <a:gd name="adj" fmla="val 10000"/>
            </a:avLst>
          </a:prstGeom>
          <a:solidFill>
            <a:schemeClr val="bg1"/>
          </a:solidFill>
          <a:ln w="12700">
            <a:solidFill>
              <a:schemeClr val="accent4"/>
            </a:solidFill>
            <a:prstDash val="solid"/>
          </a:ln>
        </p:spPr>
      </p:sp>
      <p:sp>
        <p:nvSpPr>
          <p:cNvPr id="27" name="Text 24"/>
          <p:cNvSpPr txBox="1"/>
          <p:nvPr/>
        </p:nvSpPr>
        <p:spPr>
          <a:xfrm>
            <a:off x="8961120" y="4288536"/>
            <a:ext cx="2560320" cy="320040"/>
          </a:xfrm>
          <a:prstGeom prst="rect">
            <a:avLst/>
          </a:prstGeom>
          <a:noFill/>
          <a:ln/>
        </p:spPr>
        <p:txBody>
          <a:bodyPr wrap="square" lIns="0" tIns="0" rIns="0" bIns="0" rtlCol="0" anchor="t"/>
          <a:lstStyle/>
          <a:p>
            <a:pPr indent="0" marL="0">
              <a:buNone/>
            </a:pPr>
            <a:r>
              <a:rPr lang="en-US" sz="1500" b="1" dirty="0">
                <a:solidFill>
                  <a:schemeClr val="tx1"/>
                </a:solidFill>
              </a:rPr>
              <a:t>Live dashboard (SSE)</a:t>
            </a:r>
            <a:endParaRPr lang="en-US" sz="1500" dirty="0"/>
          </a:p>
        </p:txBody>
      </p:sp>
      <p:sp>
        <p:nvSpPr>
          <p:cNvPr id="28" name="Text 25"/>
          <p:cNvSpPr txBox="1"/>
          <p:nvPr/>
        </p:nvSpPr>
        <p:spPr>
          <a:xfrm>
            <a:off x="8961120" y="4626864"/>
            <a:ext cx="2560320" cy="502920"/>
          </a:xfrm>
          <a:prstGeom prst="rect">
            <a:avLst/>
          </a:prstGeom>
          <a:noFill/>
          <a:ln/>
        </p:spPr>
        <p:txBody>
          <a:bodyPr wrap="square" lIns="0" tIns="0" rIns="0" bIns="0" rtlCol="0" anchor="t"/>
          <a:lstStyle/>
          <a:p>
            <a:pPr indent="0" marL="0">
              <a:buNone/>
            </a:pPr>
            <a:r>
              <a:rPr lang="en-US" sz="1200" dirty="0">
                <a:solidFill>
                  <a:schemeClr val="tx2"/>
                </a:solidFill>
              </a:rPr>
              <a:t>Analyst · customer · auditor</a:t>
            </a:r>
            <a:endParaRPr lang="en-US" sz="1200" dirty="0"/>
          </a:p>
        </p:txBody>
      </p:sp>
      <p:sp>
        <p:nvSpPr>
          <p:cNvPr id="29" name="deploy strip"/>
          <p:cNvSpPr/>
          <p:nvPr/>
        </p:nvSpPr>
        <p:spPr>
          <a:xfrm>
            <a:off x="548640" y="5486400"/>
            <a:ext cx="11094415" cy="566928"/>
          </a:xfrm>
          <a:prstGeom prst="roundRect">
            <a:avLst>
              <a:gd name="adj" fmla="val 19355"/>
            </a:avLst>
          </a:prstGeom>
          <a:solidFill>
            <a:schemeClr val="tx1"/>
          </a:solidFill>
          <a:ln w="12700">
            <a:solidFill>
              <a:schemeClr val="tx1"/>
            </a:solidFill>
            <a:prstDash val="solid"/>
          </a:ln>
        </p:spPr>
      </p:sp>
      <p:sp>
        <p:nvSpPr>
          <p:cNvPr id="30" name="Text 27"/>
          <p:cNvSpPr txBox="1"/>
          <p:nvPr/>
        </p:nvSpPr>
        <p:spPr>
          <a:xfrm>
            <a:off x="868680" y="5486400"/>
            <a:ext cx="10454335" cy="566928"/>
          </a:xfrm>
          <a:prstGeom prst="rect">
            <a:avLst/>
          </a:prstGeom>
          <a:noFill/>
          <a:ln/>
        </p:spPr>
        <p:txBody>
          <a:bodyPr wrap="square" lIns="0" tIns="0" rIns="0" bIns="0" rtlCol="0" anchor="ctr"/>
          <a:lstStyle/>
          <a:p>
            <a:pPr indent="0" marL="0">
              <a:buNone/>
            </a:pPr>
            <a:r>
              <a:rPr lang="en-US" sz="1300" dirty="0">
                <a:solidFill>
                  <a:schemeClr val="bg2"/>
                </a:solidFill>
              </a:rPr>
              <a:t>Docker Compose · every container built FROM the official L1CC image · non-root · read-only FS · API only on 127.0.0.1 · IBM z17 (type 9175), 3 vCPU, 8 GB</a:t>
            </a:r>
            <a:endParaRPr lang="en-US" sz="1300" dirty="0"/>
          </a:p>
        </p:txBody>
      </p:sp>
      <p:sp>
        <p:nvSpPr>
          <p:cNvPr id="31"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Frameworks: PyTorch 2.11 + torch_nnpa 1.5 · XGBoost 3.4.1 · llama_cpp_python 0.3.36 (zDNN)</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1371600"/>
            <a:ext cx="11094415" cy="365760"/>
          </a:xfrm>
          <a:prstGeom prst="rect">
            <a:avLst/>
          </a:prstGeom>
          <a:noFill/>
          <a:ln/>
        </p:spPr>
        <p:txBody>
          <a:bodyPr wrap="square" lIns="0" tIns="0" rIns="0" bIns="0" rtlCol="0" anchor="t"/>
          <a:lstStyle/>
          <a:p>
            <a:pPr indent="0" marL="0">
              <a:buNone/>
            </a:pPr>
            <a:r>
              <a:rPr lang="en-US" sz="1400" b="1" spc="200" kern="0" dirty="0">
                <a:solidFill>
                  <a:schemeClr val="accent5"/>
                </a:solidFill>
              </a:rPr>
              <a:t>LIVE DEMO</a:t>
            </a:r>
            <a:endParaRPr lang="en-US" sz="1400" dirty="0"/>
          </a:p>
        </p:txBody>
      </p:sp>
      <p:sp>
        <p:nvSpPr>
          <p:cNvPr id="3" name="Text 1"/>
          <p:cNvSpPr txBox="1"/>
          <p:nvPr/>
        </p:nvSpPr>
        <p:spPr>
          <a:xfrm>
            <a:off x="548640" y="1828800"/>
            <a:ext cx="11094415" cy="914400"/>
          </a:xfrm>
          <a:prstGeom prst="rect">
            <a:avLst/>
          </a:prstGeom>
          <a:noFill/>
          <a:ln/>
        </p:spPr>
        <p:txBody>
          <a:bodyPr wrap="square" lIns="0" tIns="0" rIns="0" bIns="0" rtlCol="0" anchor="t"/>
          <a:lstStyle/>
          <a:p>
            <a:pPr indent="0" marL="0">
              <a:buNone/>
            </a:pPr>
            <a:r>
              <a:rPr lang="en-US" sz="5400" b="1" dirty="0">
                <a:solidFill>
                  <a:schemeClr val="bg1"/>
                </a:solidFill>
              </a:rPr>
              <a:t>Live on the z17</a:t>
            </a:r>
            <a:endParaRPr lang="en-US" sz="5400" dirty="0"/>
          </a:p>
        </p:txBody>
      </p:sp>
      <p:sp>
        <p:nvSpPr>
          <p:cNvPr id="4" name="Text 2"/>
          <p:cNvSpPr txBox="1"/>
          <p:nvPr/>
        </p:nvSpPr>
        <p:spPr>
          <a:xfrm>
            <a:off x="548640" y="2788920"/>
            <a:ext cx="11094415" cy="457200"/>
          </a:xfrm>
          <a:prstGeom prst="rect">
            <a:avLst/>
          </a:prstGeom>
          <a:noFill/>
          <a:ln/>
        </p:spPr>
        <p:txBody>
          <a:bodyPr wrap="square" lIns="0" tIns="0" rIns="0" bIns="0" rtlCol="0" anchor="t"/>
          <a:lstStyle/>
          <a:p>
            <a:pPr indent="0" marL="0">
              <a:buNone/>
            </a:pPr>
            <a:r>
              <a:rPr lang="en-US" sz="2000" dirty="0">
                <a:solidFill>
                  <a:schemeClr val="accent5"/>
                </a:solidFill>
              </a:rPr>
              <a:t>Three views of the same stream, each seeing only what its role needs.</a:t>
            </a:r>
            <a:endParaRPr lang="en-US" sz="2000" dirty="0"/>
          </a:p>
        </p:txBody>
      </p:sp>
      <p:sp>
        <p:nvSpPr>
          <p:cNvPr id="5" name="view Analyst"/>
          <p:cNvSpPr/>
          <p:nvPr/>
        </p:nvSpPr>
        <p:spPr>
          <a:xfrm>
            <a:off x="548640" y="3657600"/>
            <a:ext cx="3515258" cy="1737360"/>
          </a:xfrm>
          <a:prstGeom prst="roundRect">
            <a:avLst>
              <a:gd name="adj" fmla="val 6316"/>
            </a:avLst>
          </a:prstGeom>
          <a:solidFill>
            <a:schemeClr val="accent6"/>
          </a:solidFill>
          <a:ln w="12700">
            <a:solidFill>
              <a:schemeClr val="accent6"/>
            </a:solidFill>
            <a:prstDash val="solid"/>
          </a:ln>
        </p:spPr>
      </p:sp>
      <p:pic>
        <p:nvPicPr>
          <p:cNvPr id="6" name="view icon Analyst" descr="preencoded.png">    </p:cNvPr>
          <p:cNvPicPr>
            <a:picLocks noChangeAspect="1"/>
          </p:cNvPicPr>
          <p:nvPr/>
        </p:nvPicPr>
        <p:blipFill>
          <a:blip r:embed="rId1"/>
          <a:stretch>
            <a:fillRect/>
          </a:stretch>
        </p:blipFill>
        <p:spPr>
          <a:xfrm>
            <a:off x="868680" y="3977640"/>
            <a:ext cx="457200" cy="457200"/>
          </a:xfrm>
          <a:prstGeom prst="rect">
            <a:avLst/>
          </a:prstGeom>
        </p:spPr>
      </p:pic>
      <p:sp>
        <p:nvSpPr>
          <p:cNvPr id="7" name="Text 4"/>
          <p:cNvSpPr txBox="1"/>
          <p:nvPr/>
        </p:nvSpPr>
        <p:spPr>
          <a:xfrm>
            <a:off x="1508760" y="4005072"/>
            <a:ext cx="2326538" cy="411480"/>
          </a:xfrm>
          <a:prstGeom prst="rect">
            <a:avLst/>
          </a:prstGeom>
          <a:noFill/>
          <a:ln/>
        </p:spPr>
        <p:txBody>
          <a:bodyPr wrap="square" lIns="0" tIns="0" rIns="0" bIns="0" rtlCol="0" anchor="t"/>
          <a:lstStyle/>
          <a:p>
            <a:pPr indent="0" marL="0">
              <a:buNone/>
            </a:pPr>
            <a:r>
              <a:rPr lang="en-US" sz="2200" b="1" dirty="0">
                <a:solidFill>
                  <a:schemeClr val="bg1"/>
                </a:solidFill>
              </a:rPr>
              <a:t>Analyst</a:t>
            </a:r>
            <a:endParaRPr lang="en-US" sz="2200" dirty="0"/>
          </a:p>
        </p:txBody>
      </p:sp>
      <p:sp>
        <p:nvSpPr>
          <p:cNvPr id="8" name="Text 5"/>
          <p:cNvSpPr txBox="1"/>
          <p:nvPr/>
        </p:nvSpPr>
        <p:spPr>
          <a:xfrm>
            <a:off x="868680" y="4617720"/>
            <a:ext cx="2875178" cy="640080"/>
          </a:xfrm>
          <a:prstGeom prst="rect">
            <a:avLst/>
          </a:prstGeom>
          <a:noFill/>
          <a:ln/>
        </p:spPr>
        <p:txBody>
          <a:bodyPr wrap="square" lIns="0" tIns="0" rIns="0" bIns="0" rtlCol="0" anchor="t"/>
          <a:lstStyle/>
          <a:p>
            <a:pPr indent="0" marL="0">
              <a:buNone/>
            </a:pPr>
            <a:r>
              <a:rPr lang="en-US" sz="1500" dirty="0">
                <a:solidFill>
                  <a:schemeClr val="accent5"/>
                </a:solidFill>
              </a:rPr>
              <a:t>Live feed, paused payments, Granite brief, mule watchlist</a:t>
            </a:r>
            <a:endParaRPr lang="en-US" sz="1500" dirty="0"/>
          </a:p>
        </p:txBody>
      </p:sp>
      <p:sp>
        <p:nvSpPr>
          <p:cNvPr id="9" name="view Customer"/>
          <p:cNvSpPr/>
          <p:nvPr/>
        </p:nvSpPr>
        <p:spPr>
          <a:xfrm>
            <a:off x="4338218" y="3657600"/>
            <a:ext cx="3515258" cy="1737360"/>
          </a:xfrm>
          <a:prstGeom prst="roundRect">
            <a:avLst>
              <a:gd name="adj" fmla="val 6316"/>
            </a:avLst>
          </a:prstGeom>
          <a:solidFill>
            <a:schemeClr val="accent6"/>
          </a:solidFill>
          <a:ln w="12700">
            <a:solidFill>
              <a:schemeClr val="accent6"/>
            </a:solidFill>
            <a:prstDash val="solid"/>
          </a:ln>
        </p:spPr>
      </p:sp>
      <p:pic>
        <p:nvPicPr>
          <p:cNvPr id="10" name="view icon Customer" descr="preencoded.png">    </p:cNvPr>
          <p:cNvPicPr>
            <a:picLocks noChangeAspect="1"/>
          </p:cNvPicPr>
          <p:nvPr/>
        </p:nvPicPr>
        <p:blipFill>
          <a:blip r:embed="rId2"/>
          <a:stretch>
            <a:fillRect/>
          </a:stretch>
        </p:blipFill>
        <p:spPr>
          <a:xfrm>
            <a:off x="4658258" y="3977640"/>
            <a:ext cx="457200" cy="457200"/>
          </a:xfrm>
          <a:prstGeom prst="rect">
            <a:avLst/>
          </a:prstGeom>
        </p:spPr>
      </p:pic>
      <p:sp>
        <p:nvSpPr>
          <p:cNvPr id="11" name="Text 7"/>
          <p:cNvSpPr txBox="1"/>
          <p:nvPr/>
        </p:nvSpPr>
        <p:spPr>
          <a:xfrm>
            <a:off x="5298338" y="4005072"/>
            <a:ext cx="2326538" cy="411480"/>
          </a:xfrm>
          <a:prstGeom prst="rect">
            <a:avLst/>
          </a:prstGeom>
          <a:noFill/>
          <a:ln/>
        </p:spPr>
        <p:txBody>
          <a:bodyPr wrap="square" lIns="0" tIns="0" rIns="0" bIns="0" rtlCol="0" anchor="t"/>
          <a:lstStyle/>
          <a:p>
            <a:pPr indent="0" marL="0">
              <a:buNone/>
            </a:pPr>
            <a:r>
              <a:rPr lang="en-US" sz="2200" b="1" dirty="0">
                <a:solidFill>
                  <a:schemeClr val="bg1"/>
                </a:solidFill>
              </a:rPr>
              <a:t>Customer</a:t>
            </a:r>
            <a:endParaRPr lang="en-US" sz="2200" dirty="0"/>
          </a:p>
        </p:txBody>
      </p:sp>
      <p:sp>
        <p:nvSpPr>
          <p:cNvPr id="12" name="Text 8"/>
          <p:cNvSpPr txBox="1"/>
          <p:nvPr/>
        </p:nvSpPr>
        <p:spPr>
          <a:xfrm>
            <a:off x="4658258" y="4617720"/>
            <a:ext cx="2875178" cy="640080"/>
          </a:xfrm>
          <a:prstGeom prst="rect">
            <a:avLst/>
          </a:prstGeom>
          <a:noFill/>
          <a:ln/>
        </p:spPr>
        <p:txBody>
          <a:bodyPr wrap="square" lIns="0" tIns="0" rIns="0" bIns="0" rtlCol="0" anchor="t"/>
          <a:lstStyle/>
          <a:p>
            <a:pPr indent="0" marL="0">
              <a:buNone/>
            </a:pPr>
            <a:r>
              <a:rPr lang="en-US" sz="1500" dirty="0">
                <a:solidFill>
                  <a:schemeClr val="accent5"/>
                </a:solidFill>
              </a:rPr>
              <a:t>Own payments and an instant, specific message</a:t>
            </a:r>
            <a:endParaRPr lang="en-US" sz="1500" dirty="0"/>
          </a:p>
        </p:txBody>
      </p:sp>
      <p:sp>
        <p:nvSpPr>
          <p:cNvPr id="13" name="view Auditor"/>
          <p:cNvSpPr/>
          <p:nvPr/>
        </p:nvSpPr>
        <p:spPr>
          <a:xfrm>
            <a:off x="8127797" y="3657600"/>
            <a:ext cx="3515258" cy="1737360"/>
          </a:xfrm>
          <a:prstGeom prst="roundRect">
            <a:avLst>
              <a:gd name="adj" fmla="val 6316"/>
            </a:avLst>
          </a:prstGeom>
          <a:solidFill>
            <a:schemeClr val="accent6"/>
          </a:solidFill>
          <a:ln w="12700">
            <a:solidFill>
              <a:schemeClr val="accent6"/>
            </a:solidFill>
            <a:prstDash val="solid"/>
          </a:ln>
        </p:spPr>
      </p:sp>
      <p:pic>
        <p:nvPicPr>
          <p:cNvPr id="14" name="view icon Auditor" descr="preencoded.png">    </p:cNvPr>
          <p:cNvPicPr>
            <a:picLocks noChangeAspect="1"/>
          </p:cNvPicPr>
          <p:nvPr/>
        </p:nvPicPr>
        <p:blipFill>
          <a:blip r:embed="rId3"/>
          <a:stretch>
            <a:fillRect/>
          </a:stretch>
        </p:blipFill>
        <p:spPr>
          <a:xfrm>
            <a:off x="8447837" y="3977640"/>
            <a:ext cx="457200" cy="457200"/>
          </a:xfrm>
          <a:prstGeom prst="rect">
            <a:avLst/>
          </a:prstGeom>
        </p:spPr>
      </p:pic>
      <p:sp>
        <p:nvSpPr>
          <p:cNvPr id="15" name="Text 10"/>
          <p:cNvSpPr txBox="1"/>
          <p:nvPr/>
        </p:nvSpPr>
        <p:spPr>
          <a:xfrm>
            <a:off x="9087917" y="4005072"/>
            <a:ext cx="2326538" cy="411480"/>
          </a:xfrm>
          <a:prstGeom prst="rect">
            <a:avLst/>
          </a:prstGeom>
          <a:noFill/>
          <a:ln/>
        </p:spPr>
        <p:txBody>
          <a:bodyPr wrap="square" lIns="0" tIns="0" rIns="0" bIns="0" rtlCol="0" anchor="t"/>
          <a:lstStyle/>
          <a:p>
            <a:pPr indent="0" marL="0">
              <a:buNone/>
            </a:pPr>
            <a:r>
              <a:rPr lang="en-US" sz="2200" b="1" dirty="0">
                <a:solidFill>
                  <a:schemeClr val="bg1"/>
                </a:solidFill>
              </a:rPr>
              <a:t>Auditor</a:t>
            </a:r>
            <a:endParaRPr lang="en-US" sz="2200" dirty="0"/>
          </a:p>
        </p:txBody>
      </p:sp>
      <p:sp>
        <p:nvSpPr>
          <p:cNvPr id="16" name="Text 11"/>
          <p:cNvSpPr txBox="1"/>
          <p:nvPr/>
        </p:nvSpPr>
        <p:spPr>
          <a:xfrm>
            <a:off x="8447837" y="4617720"/>
            <a:ext cx="2875178" cy="640080"/>
          </a:xfrm>
          <a:prstGeom prst="rect">
            <a:avLst/>
          </a:prstGeom>
          <a:noFill/>
          <a:ln/>
        </p:spPr>
        <p:txBody>
          <a:bodyPr wrap="square" lIns="0" tIns="0" rIns="0" bIns="0" rtlCol="0" anchor="t"/>
          <a:lstStyle/>
          <a:p>
            <a:pPr indent="0" marL="0">
              <a:buNone/>
            </a:pPr>
            <a:r>
              <a:rPr lang="en-US" sz="1500" dirty="0">
                <a:solidFill>
                  <a:schemeClr val="accent5"/>
                </a:solidFill>
              </a:rPr>
              <a:t>Aggregates and the tamper-evident audit chain</a:t>
            </a:r>
            <a:endParaRPr lang="en-US" sz="1500" dirty="0"/>
          </a:p>
        </p:txBody>
      </p:sp>
      <p:sp>
        <p:nvSpPr>
          <p:cNvPr id="17"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accent5"/>
                </a:solidFill>
              </a:rPr>
              <a:t>Dashboard over an SSH tunnel · every payment scored before it moves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PLATFORM SECURITY</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Security in the core, not bolted on</a:t>
            </a:r>
            <a:endParaRPr lang="en-US" sz="3600" dirty="0"/>
          </a:p>
        </p:txBody>
      </p:sp>
      <p:sp>
        <p:nvSpPr>
          <p:cNvPr id="4" name="control 1"/>
          <p:cNvSpPr/>
          <p:nvPr/>
        </p:nvSpPr>
        <p:spPr>
          <a:xfrm>
            <a:off x="548640" y="1691640"/>
            <a:ext cx="5410048" cy="1600200"/>
          </a:xfrm>
          <a:prstGeom prst="roundRect">
            <a:avLst>
              <a:gd name="adj" fmla="val 6857"/>
            </a:avLst>
          </a:prstGeom>
          <a:solidFill>
            <a:schemeClr val="bg1"/>
          </a:solidFill>
          <a:ln w="12700">
            <a:solidFill>
              <a:schemeClr val="accent4"/>
            </a:solidFill>
            <a:prstDash val="solid"/>
          </a:ln>
        </p:spPr>
      </p:sp>
      <p:pic>
        <p:nvPicPr>
          <p:cNvPr id="5" name="control icon 1" descr="preencoded.png">    </p:cNvPr>
          <p:cNvPicPr>
            <a:picLocks noChangeAspect="1"/>
          </p:cNvPicPr>
          <p:nvPr/>
        </p:nvPicPr>
        <p:blipFill>
          <a:blip r:embed="rId1"/>
          <a:stretch>
            <a:fillRect/>
          </a:stretch>
        </p:blipFill>
        <p:spPr>
          <a:xfrm>
            <a:off x="822960" y="1965960"/>
            <a:ext cx="457200" cy="457200"/>
          </a:xfrm>
          <a:prstGeom prst="rect">
            <a:avLst/>
          </a:prstGeom>
        </p:spPr>
      </p:pic>
      <p:sp>
        <p:nvSpPr>
          <p:cNvPr id="6" name="Text 3"/>
          <p:cNvSpPr txBox="1"/>
          <p:nvPr/>
        </p:nvSpPr>
        <p:spPr>
          <a:xfrm>
            <a:off x="1508760" y="1947672"/>
            <a:ext cx="4221328" cy="411480"/>
          </a:xfrm>
          <a:prstGeom prst="rect">
            <a:avLst/>
          </a:prstGeom>
          <a:noFill/>
          <a:ln/>
        </p:spPr>
        <p:txBody>
          <a:bodyPr wrap="square" lIns="0" tIns="0" rIns="0" bIns="0" rtlCol="0" anchor="t"/>
          <a:lstStyle/>
          <a:p>
            <a:pPr indent="0" marL="0">
              <a:buNone/>
            </a:pPr>
            <a:r>
              <a:rPr lang="en-US" sz="1900" b="1" dirty="0">
                <a:solidFill>
                  <a:schemeClr val="tx1"/>
                </a:solidFill>
              </a:rPr>
              <a:t>Pseudonymisation</a:t>
            </a:r>
            <a:endParaRPr lang="en-US" sz="1900" dirty="0"/>
          </a:p>
        </p:txBody>
      </p:sp>
      <p:sp>
        <p:nvSpPr>
          <p:cNvPr id="7" name="Text 4"/>
          <p:cNvSpPr txBox="1"/>
          <p:nvPr/>
        </p:nvSpPr>
        <p:spPr>
          <a:xfrm>
            <a:off x="1508760" y="2404872"/>
            <a:ext cx="4221328" cy="777240"/>
          </a:xfrm>
          <a:prstGeom prst="rect">
            <a:avLst/>
          </a:prstGeom>
          <a:noFill/>
          <a:ln/>
        </p:spPr>
        <p:txBody>
          <a:bodyPr wrap="square" lIns="0" tIns="0" rIns="0" bIns="0" rtlCol="0" anchor="t"/>
          <a:lstStyle/>
          <a:p>
            <a:pPr indent="0" marL="0">
              <a:buNone/>
            </a:pPr>
            <a:r>
              <a:rPr lang="en-US" sz="1400" dirty="0">
                <a:solidFill>
                  <a:schemeClr val="tx2"/>
                </a:solidFill>
              </a:rPr>
              <a:t>Keyed HMAC-SHA256 tokens for account numbers and payment IDs, on arrival. Models, logs, UI and Granite see only tokens.</a:t>
            </a:r>
            <a:endParaRPr lang="en-US" sz="1400" dirty="0"/>
          </a:p>
        </p:txBody>
      </p:sp>
      <p:sp>
        <p:nvSpPr>
          <p:cNvPr id="8" name="control 2"/>
          <p:cNvSpPr/>
          <p:nvPr/>
        </p:nvSpPr>
        <p:spPr>
          <a:xfrm>
            <a:off x="6233008" y="1691640"/>
            <a:ext cx="5410048" cy="1600200"/>
          </a:xfrm>
          <a:prstGeom prst="roundRect">
            <a:avLst>
              <a:gd name="adj" fmla="val 6857"/>
            </a:avLst>
          </a:prstGeom>
          <a:solidFill>
            <a:schemeClr val="bg1"/>
          </a:solidFill>
          <a:ln w="12700">
            <a:solidFill>
              <a:schemeClr val="accent4"/>
            </a:solidFill>
            <a:prstDash val="solid"/>
          </a:ln>
        </p:spPr>
      </p:sp>
      <p:pic>
        <p:nvPicPr>
          <p:cNvPr id="9" name="control icon 2" descr="preencoded.png">    </p:cNvPr>
          <p:cNvPicPr>
            <a:picLocks noChangeAspect="1"/>
          </p:cNvPicPr>
          <p:nvPr/>
        </p:nvPicPr>
        <p:blipFill>
          <a:blip r:embed="rId2"/>
          <a:stretch>
            <a:fillRect/>
          </a:stretch>
        </p:blipFill>
        <p:spPr>
          <a:xfrm>
            <a:off x="6507328" y="1965960"/>
            <a:ext cx="457200" cy="457200"/>
          </a:xfrm>
          <a:prstGeom prst="rect">
            <a:avLst/>
          </a:prstGeom>
        </p:spPr>
      </p:pic>
      <p:sp>
        <p:nvSpPr>
          <p:cNvPr id="10" name="Text 6"/>
          <p:cNvSpPr txBox="1"/>
          <p:nvPr/>
        </p:nvSpPr>
        <p:spPr>
          <a:xfrm>
            <a:off x="7193128" y="1947672"/>
            <a:ext cx="4221328" cy="411480"/>
          </a:xfrm>
          <a:prstGeom prst="rect">
            <a:avLst/>
          </a:prstGeom>
          <a:noFill/>
          <a:ln/>
        </p:spPr>
        <p:txBody>
          <a:bodyPr wrap="square" lIns="0" tIns="0" rIns="0" bIns="0" rtlCol="0" anchor="t"/>
          <a:lstStyle/>
          <a:p>
            <a:pPr indent="0" marL="0">
              <a:buNone/>
            </a:pPr>
            <a:r>
              <a:rPr lang="en-US" sz="1900" b="1" dirty="0">
                <a:solidFill>
                  <a:schemeClr val="tx1"/>
                </a:solidFill>
              </a:rPr>
              <a:t>AES-256-GCM at rest, on CPACF</a:t>
            </a:r>
            <a:endParaRPr lang="en-US" sz="1900" dirty="0"/>
          </a:p>
        </p:txBody>
      </p:sp>
      <p:sp>
        <p:nvSpPr>
          <p:cNvPr id="11" name="Text 7"/>
          <p:cNvSpPr txBox="1"/>
          <p:nvPr/>
        </p:nvSpPr>
        <p:spPr>
          <a:xfrm>
            <a:off x="7193128" y="2404872"/>
            <a:ext cx="4221328" cy="777240"/>
          </a:xfrm>
          <a:prstGeom prst="rect">
            <a:avLst/>
          </a:prstGeom>
          <a:noFill/>
          <a:ln/>
        </p:spPr>
        <p:txBody>
          <a:bodyPr wrap="square" lIns="0" tIns="0" rIns="0" bIns="0" rtlCol="0" anchor="t"/>
          <a:lstStyle/>
          <a:p>
            <a:pPr indent="0" marL="0">
              <a:buNone/>
            </a:pPr>
            <a:r>
              <a:rPr lang="en-US" sz="1400" dirty="0">
                <a:solidFill>
                  <a:schemeClr val="tx2"/>
                </a:solidFill>
              </a:rPr>
              <a:t>The full raw payment is sealed, with a random 96-bit nonce and key id per record. OpenSSL uses IBM Z's on-core CPACF instructions.</a:t>
            </a:r>
            <a:endParaRPr lang="en-US" sz="1400" dirty="0"/>
          </a:p>
        </p:txBody>
      </p:sp>
      <p:sp>
        <p:nvSpPr>
          <p:cNvPr id="12" name="control 3"/>
          <p:cNvSpPr/>
          <p:nvPr/>
        </p:nvSpPr>
        <p:spPr>
          <a:xfrm>
            <a:off x="548640" y="3474720"/>
            <a:ext cx="5410048" cy="1600200"/>
          </a:xfrm>
          <a:prstGeom prst="roundRect">
            <a:avLst>
              <a:gd name="adj" fmla="val 6857"/>
            </a:avLst>
          </a:prstGeom>
          <a:solidFill>
            <a:schemeClr val="bg1"/>
          </a:solidFill>
          <a:ln w="12700">
            <a:solidFill>
              <a:schemeClr val="accent4"/>
            </a:solidFill>
            <a:prstDash val="solid"/>
          </a:ln>
        </p:spPr>
      </p:sp>
      <p:pic>
        <p:nvPicPr>
          <p:cNvPr id="13" name="control icon 3" descr="preencoded.png">    </p:cNvPr>
          <p:cNvPicPr>
            <a:picLocks noChangeAspect="1"/>
          </p:cNvPicPr>
          <p:nvPr/>
        </p:nvPicPr>
        <p:blipFill>
          <a:blip r:embed="rId3"/>
          <a:stretch>
            <a:fillRect/>
          </a:stretch>
        </p:blipFill>
        <p:spPr>
          <a:xfrm>
            <a:off x="822960" y="3749040"/>
            <a:ext cx="457200" cy="457200"/>
          </a:xfrm>
          <a:prstGeom prst="rect">
            <a:avLst/>
          </a:prstGeom>
        </p:spPr>
      </p:pic>
      <p:sp>
        <p:nvSpPr>
          <p:cNvPr id="14" name="Text 9"/>
          <p:cNvSpPr txBox="1"/>
          <p:nvPr/>
        </p:nvSpPr>
        <p:spPr>
          <a:xfrm>
            <a:off x="1508760" y="3730752"/>
            <a:ext cx="4221328" cy="411480"/>
          </a:xfrm>
          <a:prstGeom prst="rect">
            <a:avLst/>
          </a:prstGeom>
          <a:noFill/>
          <a:ln/>
        </p:spPr>
        <p:txBody>
          <a:bodyPr wrap="square" lIns="0" tIns="0" rIns="0" bIns="0" rtlCol="0" anchor="t"/>
          <a:lstStyle/>
          <a:p>
            <a:pPr indent="0" marL="0">
              <a:buNone/>
            </a:pPr>
            <a:r>
              <a:rPr lang="en-US" sz="1900" b="1" dirty="0">
                <a:solidFill>
                  <a:schemeClr val="tx1"/>
                </a:solidFill>
              </a:rPr>
              <a:t>Role-based access (JWT)</a:t>
            </a:r>
            <a:endParaRPr lang="en-US" sz="1900" dirty="0"/>
          </a:p>
        </p:txBody>
      </p:sp>
      <p:sp>
        <p:nvSpPr>
          <p:cNvPr id="15" name="Text 10"/>
          <p:cNvSpPr txBox="1"/>
          <p:nvPr/>
        </p:nvSpPr>
        <p:spPr>
          <a:xfrm>
            <a:off x="1508760" y="4187952"/>
            <a:ext cx="4221328" cy="777240"/>
          </a:xfrm>
          <a:prstGeom prst="rect">
            <a:avLst/>
          </a:prstGeom>
          <a:noFill/>
          <a:ln/>
        </p:spPr>
        <p:txBody>
          <a:bodyPr wrap="square" lIns="0" tIns="0" rIns="0" bIns="0" rtlCol="0" anchor="t"/>
          <a:lstStyle/>
          <a:p>
            <a:pPr indent="0" marL="0">
              <a:buNone/>
            </a:pPr>
            <a:r>
              <a:rPr lang="en-US" sz="1400" dirty="0">
                <a:solidFill>
                  <a:schemeClr val="tx2"/>
                </a:solidFill>
              </a:rPr>
              <a:t>Customer: own payments and messages. Analyst: paused payments, decrypted on open. Auditor: aggregates and audit only.</a:t>
            </a:r>
            <a:endParaRPr lang="en-US" sz="1400" dirty="0"/>
          </a:p>
        </p:txBody>
      </p:sp>
      <p:sp>
        <p:nvSpPr>
          <p:cNvPr id="16" name="control 4"/>
          <p:cNvSpPr/>
          <p:nvPr/>
        </p:nvSpPr>
        <p:spPr>
          <a:xfrm>
            <a:off x="6233008" y="3474720"/>
            <a:ext cx="5410048" cy="1600200"/>
          </a:xfrm>
          <a:prstGeom prst="roundRect">
            <a:avLst>
              <a:gd name="adj" fmla="val 6857"/>
            </a:avLst>
          </a:prstGeom>
          <a:solidFill>
            <a:schemeClr val="bg1"/>
          </a:solidFill>
          <a:ln w="12700">
            <a:solidFill>
              <a:schemeClr val="accent4"/>
            </a:solidFill>
            <a:prstDash val="solid"/>
          </a:ln>
        </p:spPr>
      </p:sp>
      <p:pic>
        <p:nvPicPr>
          <p:cNvPr id="17" name="control icon 4" descr="preencoded.png">    </p:cNvPr>
          <p:cNvPicPr>
            <a:picLocks noChangeAspect="1"/>
          </p:cNvPicPr>
          <p:nvPr/>
        </p:nvPicPr>
        <p:blipFill>
          <a:blip r:embed="rId4"/>
          <a:stretch>
            <a:fillRect/>
          </a:stretch>
        </p:blipFill>
        <p:spPr>
          <a:xfrm>
            <a:off x="6507328" y="3749040"/>
            <a:ext cx="457200" cy="457200"/>
          </a:xfrm>
          <a:prstGeom prst="rect">
            <a:avLst/>
          </a:prstGeom>
        </p:spPr>
      </p:pic>
      <p:sp>
        <p:nvSpPr>
          <p:cNvPr id="18" name="Text 12"/>
          <p:cNvSpPr txBox="1"/>
          <p:nvPr/>
        </p:nvSpPr>
        <p:spPr>
          <a:xfrm>
            <a:off x="7193128" y="3730752"/>
            <a:ext cx="4221328" cy="411480"/>
          </a:xfrm>
          <a:prstGeom prst="rect">
            <a:avLst/>
          </a:prstGeom>
          <a:noFill/>
          <a:ln/>
        </p:spPr>
        <p:txBody>
          <a:bodyPr wrap="square" lIns="0" tIns="0" rIns="0" bIns="0" rtlCol="0" anchor="t"/>
          <a:lstStyle/>
          <a:p>
            <a:pPr indent="0" marL="0">
              <a:buNone/>
            </a:pPr>
            <a:r>
              <a:rPr lang="en-US" sz="1900" b="1" dirty="0">
                <a:solidFill>
                  <a:schemeClr val="tx1"/>
                </a:solidFill>
              </a:rPr>
              <a:t>Tamper-evident audit chain</a:t>
            </a:r>
            <a:endParaRPr lang="en-US" sz="1900" dirty="0"/>
          </a:p>
        </p:txBody>
      </p:sp>
      <p:sp>
        <p:nvSpPr>
          <p:cNvPr id="19" name="Text 13"/>
          <p:cNvSpPr txBox="1"/>
          <p:nvPr/>
        </p:nvSpPr>
        <p:spPr>
          <a:xfrm>
            <a:off x="7193128" y="4187952"/>
            <a:ext cx="4221328" cy="777240"/>
          </a:xfrm>
          <a:prstGeom prst="rect">
            <a:avLst/>
          </a:prstGeom>
          <a:noFill/>
          <a:ln/>
        </p:spPr>
        <p:txBody>
          <a:bodyPr wrap="square" lIns="0" tIns="0" rIns="0" bIns="0" rtlCol="0" anchor="t"/>
          <a:lstStyle/>
          <a:p>
            <a:pPr indent="0" marL="0">
              <a:buNone/>
            </a:pPr>
            <a:r>
              <a:rPr lang="en-US" sz="1400" dirty="0">
                <a:solidFill>
                  <a:schemeClr val="tx2"/>
                </a:solidFill>
              </a:rPr>
              <a:t>Each row stores sha256(prev_hash + row). Edit one row in SQLite and verification reports "Chain broken at entry #50".</a:t>
            </a:r>
            <a:endParaRPr lang="en-US" sz="1400" dirty="0"/>
          </a:p>
        </p:txBody>
      </p:sp>
      <p:sp>
        <p:nvSpPr>
          <p:cNvPr id="20" name="also"/>
          <p:cNvSpPr/>
          <p:nvPr/>
        </p:nvSpPr>
        <p:spPr>
          <a:xfrm>
            <a:off x="548640" y="5349240"/>
            <a:ext cx="11094415" cy="777240"/>
          </a:xfrm>
          <a:prstGeom prst="roundRect">
            <a:avLst>
              <a:gd name="adj" fmla="val 14118"/>
            </a:avLst>
          </a:prstGeom>
          <a:solidFill>
            <a:srgbClr val="E9ECE5"/>
          </a:solidFill>
          <a:ln w="12700">
            <a:solidFill>
              <a:schemeClr val="accent4"/>
            </a:solidFill>
            <a:prstDash val="solid"/>
          </a:ln>
        </p:spPr>
      </p:sp>
      <p:sp>
        <p:nvSpPr>
          <p:cNvPr id="21" name="Text 15"/>
          <p:cNvSpPr txBox="1"/>
          <p:nvPr/>
        </p:nvSpPr>
        <p:spPr>
          <a:xfrm>
            <a:off x="822960" y="5422392"/>
            <a:ext cx="10545775" cy="640080"/>
          </a:xfrm>
          <a:prstGeom prst="rect">
            <a:avLst/>
          </a:prstGeom>
          <a:noFill/>
          <a:ln/>
        </p:spPr>
        <p:txBody>
          <a:bodyPr wrap="square" lIns="0" tIns="0" rIns="0" bIns="0" rtlCol="0" anchor="ctr"/>
          <a:lstStyle/>
          <a:p>
            <a:pPr indent="0" marL="0">
              <a:buNone/>
            </a:pPr>
            <a:r>
              <a:rPr lang="en-US" sz="1400" b="1" dirty="0">
                <a:solidFill>
                  <a:schemeClr val="accent3"/>
                </a:solidFill>
              </a:rPr>
              <a:t>Also: </a:t>
            </a:r>
            <a:pPr indent="0" marL="0">
              <a:buNone/>
            </a:pPr>
            <a:r>
              <a:rPr lang="en-US" sz="1400" dirty="0">
                <a:solidFill>
                  <a:schemeClr val="tx2"/>
                </a:solidFill>
              </a:rPr>
              <a:t>non-root, read-only containers · secrets as files, never in images or git · Jupyter never exposed · all AI on-premises.</a:t>
            </a:r>
            <a:endParaRPr lang="en-US" sz="1400" dirty="0"/>
          </a:p>
          <a:p>
            <a:pPr indent="0" marL="0">
              <a:buNone/>
            </a:pPr>
            <a:r>
              <a:rPr lang="en-US" sz="1400" b="1" dirty="0">
                <a:solidFill>
                  <a:schemeClr val="accent3"/>
                </a:solidFill>
              </a:rPr>
              <a:t>Not claimed: </a:t>
            </a:r>
            <a:pPr indent="0" marL="0">
              <a:buNone/>
            </a:pPr>
            <a:r>
              <a:rPr lang="en-US" sz="1400" dirty="0">
                <a:solidFill>
                  <a:schemeClr val="tx2"/>
                </a:solidFill>
              </a:rPr>
              <a:t>quantum-safe signatures (the host OpenSSL 3.0.13 has no ML-DSA).</a:t>
            </a:r>
            <a:endParaRPr lang="en-US" sz="1400" dirty="0"/>
          </a:p>
        </p:txBody>
      </p:sp>
      <p:sp>
        <p:nvSpPr>
          <p:cNvPr id="22"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docs/SECURITY.md · tests/test_security.py, test_audit.py, test_api.py</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RESULTS</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Two unseen days, scored on the z17</a:t>
            </a:r>
            <a:endParaRPr lang="en-US" sz="3600" dirty="0"/>
          </a:p>
        </p:txBody>
      </p:sp>
      <p:sp>
        <p:nvSpPr>
          <p:cNvPr id="4" name="stat 1"/>
          <p:cNvSpPr/>
          <p:nvPr/>
        </p:nvSpPr>
        <p:spPr>
          <a:xfrm>
            <a:off x="548640" y="1691640"/>
            <a:ext cx="3515258" cy="1600200"/>
          </a:xfrm>
          <a:prstGeom prst="roundRect">
            <a:avLst>
              <a:gd name="adj" fmla="val 6857"/>
            </a:avLst>
          </a:prstGeom>
          <a:solidFill>
            <a:schemeClr val="bg1"/>
          </a:solidFill>
          <a:ln w="12700">
            <a:solidFill>
              <a:schemeClr val="accent4"/>
            </a:solidFill>
            <a:prstDash val="solid"/>
          </a:ln>
        </p:spPr>
      </p:sp>
      <p:sp>
        <p:nvSpPr>
          <p:cNvPr id="5" name="Text 3"/>
          <p:cNvSpPr txBox="1"/>
          <p:nvPr/>
        </p:nvSpPr>
        <p:spPr>
          <a:xfrm>
            <a:off x="822960" y="1874520"/>
            <a:ext cx="2966618" cy="685800"/>
          </a:xfrm>
          <a:prstGeom prst="rect">
            <a:avLst/>
          </a:prstGeom>
          <a:noFill/>
          <a:ln/>
        </p:spPr>
        <p:txBody>
          <a:bodyPr wrap="square" lIns="0" tIns="0" rIns="0" bIns="0" rtlCol="0" anchor="t"/>
          <a:lstStyle/>
          <a:p>
            <a:pPr indent="0" marL="0">
              <a:buNone/>
            </a:pPr>
            <a:r>
              <a:rPr lang="en-US" sz="4000" b="1" dirty="0">
                <a:solidFill>
                  <a:schemeClr val="accent1"/>
                </a:solidFill>
              </a:rPr>
              <a:t>73%</a:t>
            </a:r>
            <a:endParaRPr lang="en-US" sz="4000" dirty="0"/>
          </a:p>
        </p:txBody>
      </p:sp>
      <p:sp>
        <p:nvSpPr>
          <p:cNvPr id="6" name="Text 4"/>
          <p:cNvSpPr txBox="1"/>
          <p:nvPr/>
        </p:nvSpPr>
        <p:spPr>
          <a:xfrm>
            <a:off x="822960" y="2560320"/>
            <a:ext cx="2966618" cy="658368"/>
          </a:xfrm>
          <a:prstGeom prst="rect">
            <a:avLst/>
          </a:prstGeom>
          <a:noFill/>
          <a:ln/>
        </p:spPr>
        <p:txBody>
          <a:bodyPr wrap="square" lIns="0" tIns="0" rIns="0" bIns="0" rtlCol="0" anchor="t"/>
          <a:lstStyle/>
          <a:p>
            <a:pPr indent="0" marL="0">
              <a:buNone/>
            </a:pPr>
            <a:r>
              <a:rPr lang="en-US" sz="1350" dirty="0">
                <a:solidFill>
                  <a:schemeClr val="tx2"/>
                </a:solidFill>
              </a:rPr>
              <a:t>of paused payments are laundering: 0.074% of payments paused, about 660× the base rate</a:t>
            </a:r>
            <a:endParaRPr lang="en-US" sz="1350" dirty="0"/>
          </a:p>
        </p:txBody>
      </p:sp>
      <p:sp>
        <p:nvSpPr>
          <p:cNvPr id="7" name="stat 2"/>
          <p:cNvSpPr/>
          <p:nvPr/>
        </p:nvSpPr>
        <p:spPr>
          <a:xfrm>
            <a:off x="4338218" y="1691640"/>
            <a:ext cx="3515258" cy="1600200"/>
          </a:xfrm>
          <a:prstGeom prst="roundRect">
            <a:avLst>
              <a:gd name="adj" fmla="val 6857"/>
            </a:avLst>
          </a:prstGeom>
          <a:solidFill>
            <a:schemeClr val="bg1"/>
          </a:solidFill>
          <a:ln w="12700">
            <a:solidFill>
              <a:schemeClr val="accent4"/>
            </a:solidFill>
            <a:prstDash val="solid"/>
          </a:ln>
        </p:spPr>
      </p:sp>
      <p:sp>
        <p:nvSpPr>
          <p:cNvPr id="8" name="Text 6"/>
          <p:cNvSpPr txBox="1"/>
          <p:nvPr/>
        </p:nvSpPr>
        <p:spPr>
          <a:xfrm>
            <a:off x="4612538" y="1874520"/>
            <a:ext cx="2966618" cy="685800"/>
          </a:xfrm>
          <a:prstGeom prst="rect">
            <a:avLst/>
          </a:prstGeom>
          <a:noFill/>
          <a:ln/>
        </p:spPr>
        <p:txBody>
          <a:bodyPr wrap="square" lIns="0" tIns="0" rIns="0" bIns="0" rtlCol="0" anchor="t"/>
          <a:lstStyle/>
          <a:p>
            <a:pPr indent="0" marL="0">
              <a:buNone/>
            </a:pPr>
            <a:r>
              <a:rPr lang="en-US" sz="4000" b="1" dirty="0">
                <a:solidFill>
                  <a:schemeClr val="accent2"/>
                </a:solidFill>
              </a:rPr>
              <a:t>147/174</a:t>
            </a:r>
            <a:endParaRPr lang="en-US" sz="4000" dirty="0"/>
          </a:p>
        </p:txBody>
      </p:sp>
      <p:sp>
        <p:nvSpPr>
          <p:cNvPr id="9" name="Text 7"/>
          <p:cNvSpPr txBox="1"/>
          <p:nvPr/>
        </p:nvSpPr>
        <p:spPr>
          <a:xfrm>
            <a:off x="4612538" y="2560320"/>
            <a:ext cx="2966618" cy="658368"/>
          </a:xfrm>
          <a:prstGeom prst="rect">
            <a:avLst/>
          </a:prstGeom>
          <a:noFill/>
          <a:ln/>
        </p:spPr>
        <p:txBody>
          <a:bodyPr wrap="square" lIns="0" tIns="0" rIns="0" bIns="0" rtlCol="0" anchor="t"/>
          <a:lstStyle/>
          <a:p>
            <a:pPr indent="0" marL="0">
              <a:buNone/>
            </a:pPr>
            <a:r>
              <a:rPr lang="en-US" sz="1350" dirty="0">
                <a:solidFill>
                  <a:schemeClr val="tx2"/>
                </a:solidFill>
              </a:rPr>
              <a:t>laundering schemes broken (at least one payment paused)</a:t>
            </a:r>
            <a:endParaRPr lang="en-US" sz="1350" dirty="0"/>
          </a:p>
        </p:txBody>
      </p:sp>
      <p:sp>
        <p:nvSpPr>
          <p:cNvPr id="10" name="stat 3"/>
          <p:cNvSpPr/>
          <p:nvPr/>
        </p:nvSpPr>
        <p:spPr>
          <a:xfrm>
            <a:off x="8127797" y="1691640"/>
            <a:ext cx="3515258" cy="1600200"/>
          </a:xfrm>
          <a:prstGeom prst="roundRect">
            <a:avLst>
              <a:gd name="adj" fmla="val 6857"/>
            </a:avLst>
          </a:prstGeom>
          <a:solidFill>
            <a:schemeClr val="bg1"/>
          </a:solidFill>
          <a:ln w="12700">
            <a:solidFill>
              <a:schemeClr val="accent4"/>
            </a:solidFill>
            <a:prstDash val="solid"/>
          </a:ln>
        </p:spPr>
      </p:sp>
      <p:sp>
        <p:nvSpPr>
          <p:cNvPr id="11" name="Text 9"/>
          <p:cNvSpPr txBox="1"/>
          <p:nvPr/>
        </p:nvSpPr>
        <p:spPr>
          <a:xfrm>
            <a:off x="8402117" y="1874520"/>
            <a:ext cx="2966618" cy="685800"/>
          </a:xfrm>
          <a:prstGeom prst="rect">
            <a:avLst/>
          </a:prstGeom>
          <a:noFill/>
          <a:ln/>
        </p:spPr>
        <p:txBody>
          <a:bodyPr wrap="square" lIns="0" tIns="0" rIns="0" bIns="0" rtlCol="0" anchor="t"/>
          <a:lstStyle/>
          <a:p>
            <a:pPr indent="0" marL="0">
              <a:buNone/>
            </a:pPr>
            <a:r>
              <a:rPr lang="en-US" sz="4000" b="1" dirty="0">
                <a:solidFill>
                  <a:schemeClr val="tx1"/>
                </a:solidFill>
              </a:rPr>
              <a:t>82%</a:t>
            </a:r>
            <a:endParaRPr lang="en-US" sz="4000" dirty="0"/>
          </a:p>
        </p:txBody>
      </p:sp>
      <p:sp>
        <p:nvSpPr>
          <p:cNvPr id="12" name="Text 10"/>
          <p:cNvSpPr txBox="1"/>
          <p:nvPr/>
        </p:nvSpPr>
        <p:spPr>
          <a:xfrm>
            <a:off x="8402117" y="2560320"/>
            <a:ext cx="2966618" cy="658368"/>
          </a:xfrm>
          <a:prstGeom prst="rect">
            <a:avLst/>
          </a:prstGeom>
          <a:noFill/>
          <a:ln/>
        </p:spPr>
        <p:txBody>
          <a:bodyPr wrap="square" lIns="0" tIns="0" rIns="0" bIns="0" rtlCol="0" anchor="t"/>
          <a:lstStyle/>
          <a:p>
            <a:pPr indent="0" marL="0">
              <a:buNone/>
            </a:pPr>
            <a:r>
              <a:rPr lang="en-US" sz="1350" dirty="0">
                <a:solidFill>
                  <a:schemeClr val="tx2"/>
                </a:solidFill>
              </a:rPr>
              <a:t>of laundering payments warned or paused</a:t>
            </a:r>
            <a:endParaRPr lang="en-US" sz="1350" dirty="0"/>
          </a:p>
        </p:txBody>
      </p:sp>
      <p:sp>
        <p:nvSpPr>
          <p:cNvPr id="13" name="stat 4"/>
          <p:cNvSpPr/>
          <p:nvPr/>
        </p:nvSpPr>
        <p:spPr>
          <a:xfrm>
            <a:off x="548640" y="3474720"/>
            <a:ext cx="3515258" cy="1600200"/>
          </a:xfrm>
          <a:prstGeom prst="roundRect">
            <a:avLst>
              <a:gd name="adj" fmla="val 6857"/>
            </a:avLst>
          </a:prstGeom>
          <a:solidFill>
            <a:schemeClr val="bg1"/>
          </a:solidFill>
          <a:ln w="12700">
            <a:solidFill>
              <a:schemeClr val="accent4"/>
            </a:solidFill>
            <a:prstDash val="solid"/>
          </a:ln>
        </p:spPr>
      </p:sp>
      <p:sp>
        <p:nvSpPr>
          <p:cNvPr id="14" name="Text 12"/>
          <p:cNvSpPr txBox="1"/>
          <p:nvPr/>
        </p:nvSpPr>
        <p:spPr>
          <a:xfrm>
            <a:off x="822960" y="3657600"/>
            <a:ext cx="2966618" cy="685800"/>
          </a:xfrm>
          <a:prstGeom prst="rect">
            <a:avLst/>
          </a:prstGeom>
          <a:noFill/>
          <a:ln/>
        </p:spPr>
        <p:txBody>
          <a:bodyPr wrap="square" lIns="0" tIns="0" rIns="0" bIns="0" rtlCol="0" anchor="t"/>
          <a:lstStyle/>
          <a:p>
            <a:pPr indent="0" marL="0">
              <a:buNone/>
            </a:pPr>
            <a:r>
              <a:rPr lang="en-US" sz="4000" b="1" dirty="0">
                <a:solidFill>
                  <a:schemeClr val="accent2"/>
                </a:solidFill>
              </a:rPr>
              <a:t>$269M</a:t>
            </a:r>
            <a:endParaRPr lang="en-US" sz="4000" dirty="0"/>
          </a:p>
        </p:txBody>
      </p:sp>
      <p:sp>
        <p:nvSpPr>
          <p:cNvPr id="15" name="Text 13"/>
          <p:cNvSpPr txBox="1"/>
          <p:nvPr/>
        </p:nvSpPr>
        <p:spPr>
          <a:xfrm>
            <a:off x="822960" y="4343400"/>
            <a:ext cx="2966618" cy="658368"/>
          </a:xfrm>
          <a:prstGeom prst="rect">
            <a:avLst/>
          </a:prstGeom>
          <a:noFill/>
          <a:ln/>
        </p:spPr>
        <p:txBody>
          <a:bodyPr wrap="square" lIns="0" tIns="0" rIns="0" bIns="0" rtlCol="0" anchor="t"/>
          <a:lstStyle/>
          <a:p>
            <a:pPr indent="0" marL="0">
              <a:buNone/>
            </a:pPr>
            <a:r>
              <a:rPr lang="en-US" sz="1350" dirty="0">
                <a:solidFill>
                  <a:schemeClr val="tx2"/>
                </a:solidFill>
              </a:rPr>
              <a:t>of $424M laundered, paused before it moved, though 95% of it is ten very large transfers</a:t>
            </a:r>
            <a:endParaRPr lang="en-US" sz="1350" dirty="0"/>
          </a:p>
        </p:txBody>
      </p:sp>
      <p:sp>
        <p:nvSpPr>
          <p:cNvPr id="16" name="stat 5"/>
          <p:cNvSpPr/>
          <p:nvPr/>
        </p:nvSpPr>
        <p:spPr>
          <a:xfrm>
            <a:off x="4338218" y="3474720"/>
            <a:ext cx="3515258" cy="1600200"/>
          </a:xfrm>
          <a:prstGeom prst="roundRect">
            <a:avLst>
              <a:gd name="adj" fmla="val 6857"/>
            </a:avLst>
          </a:prstGeom>
          <a:solidFill>
            <a:schemeClr val="bg1"/>
          </a:solidFill>
          <a:ln w="12700">
            <a:solidFill>
              <a:schemeClr val="accent4"/>
            </a:solidFill>
            <a:prstDash val="solid"/>
          </a:ln>
        </p:spPr>
      </p:sp>
      <p:sp>
        <p:nvSpPr>
          <p:cNvPr id="17" name="Text 15"/>
          <p:cNvSpPr txBox="1"/>
          <p:nvPr/>
        </p:nvSpPr>
        <p:spPr>
          <a:xfrm>
            <a:off x="4612538" y="3657600"/>
            <a:ext cx="2966618" cy="685800"/>
          </a:xfrm>
          <a:prstGeom prst="rect">
            <a:avLst/>
          </a:prstGeom>
          <a:noFill/>
          <a:ln/>
        </p:spPr>
        <p:txBody>
          <a:bodyPr wrap="square" lIns="0" tIns="0" rIns="0" bIns="0" rtlCol="0" anchor="t"/>
          <a:lstStyle/>
          <a:p>
            <a:pPr indent="0" marL="0">
              <a:buNone/>
            </a:pPr>
            <a:r>
              <a:rPr lang="en-US" sz="4000" b="1" dirty="0">
                <a:solidFill>
                  <a:schemeClr val="accent1"/>
                </a:solidFill>
              </a:rPr>
              <a:t>0.984</a:t>
            </a:r>
            <a:endParaRPr lang="en-US" sz="4000" dirty="0"/>
          </a:p>
        </p:txBody>
      </p:sp>
      <p:sp>
        <p:nvSpPr>
          <p:cNvPr id="18" name="Text 16"/>
          <p:cNvSpPr txBox="1"/>
          <p:nvPr/>
        </p:nvSpPr>
        <p:spPr>
          <a:xfrm>
            <a:off x="4612538" y="4343400"/>
            <a:ext cx="2966618" cy="658368"/>
          </a:xfrm>
          <a:prstGeom prst="rect">
            <a:avLst/>
          </a:prstGeom>
          <a:noFill/>
          <a:ln/>
        </p:spPr>
        <p:txBody>
          <a:bodyPr wrap="square" lIns="0" tIns="0" rIns="0" bIns="0" rtlCol="0" anchor="t"/>
          <a:lstStyle/>
          <a:p>
            <a:pPr indent="0" marL="0">
              <a:buNone/>
            </a:pPr>
            <a:r>
              <a:rPr lang="en-US" sz="1350" dirty="0">
                <a:solidFill>
                  <a:schemeClr val="tx2"/>
                </a:solidFill>
              </a:rPr>
              <a:t>ROC-AUC, risk model (PR-AUC 0.564, laundering base rate 0.11%)</a:t>
            </a:r>
            <a:endParaRPr lang="en-US" sz="1350" dirty="0"/>
          </a:p>
        </p:txBody>
      </p:sp>
      <p:sp>
        <p:nvSpPr>
          <p:cNvPr id="19" name="stat 6"/>
          <p:cNvSpPr/>
          <p:nvPr/>
        </p:nvSpPr>
        <p:spPr>
          <a:xfrm>
            <a:off x="8127797" y="3474720"/>
            <a:ext cx="3515258" cy="1600200"/>
          </a:xfrm>
          <a:prstGeom prst="roundRect">
            <a:avLst>
              <a:gd name="adj" fmla="val 6857"/>
            </a:avLst>
          </a:prstGeom>
          <a:solidFill>
            <a:schemeClr val="bg1"/>
          </a:solidFill>
          <a:ln w="12700">
            <a:solidFill>
              <a:schemeClr val="accent4"/>
            </a:solidFill>
            <a:prstDash val="solid"/>
          </a:ln>
        </p:spPr>
      </p:sp>
      <p:sp>
        <p:nvSpPr>
          <p:cNvPr id="20" name="Text 18"/>
          <p:cNvSpPr txBox="1"/>
          <p:nvPr/>
        </p:nvSpPr>
        <p:spPr>
          <a:xfrm>
            <a:off x="8402117" y="3657600"/>
            <a:ext cx="2966618" cy="685800"/>
          </a:xfrm>
          <a:prstGeom prst="rect">
            <a:avLst/>
          </a:prstGeom>
          <a:noFill/>
          <a:ln/>
        </p:spPr>
        <p:txBody>
          <a:bodyPr wrap="square" lIns="0" tIns="0" rIns="0" bIns="0" rtlCol="0" anchor="t"/>
          <a:lstStyle/>
          <a:p>
            <a:pPr indent="0" marL="0">
              <a:buNone/>
            </a:pPr>
            <a:r>
              <a:rPr lang="en-US" sz="4000" b="1" dirty="0">
                <a:solidFill>
                  <a:schemeClr val="tx1"/>
                </a:solidFill>
              </a:rPr>
              <a:t>4.4 ms</a:t>
            </a:r>
            <a:endParaRPr lang="en-US" sz="4000" dirty="0"/>
          </a:p>
        </p:txBody>
      </p:sp>
      <p:sp>
        <p:nvSpPr>
          <p:cNvPr id="21" name="Text 19"/>
          <p:cNvSpPr txBox="1"/>
          <p:nvPr/>
        </p:nvSpPr>
        <p:spPr>
          <a:xfrm>
            <a:off x="8402117" y="4343400"/>
            <a:ext cx="2966618" cy="658368"/>
          </a:xfrm>
          <a:prstGeom prst="rect">
            <a:avLst/>
          </a:prstGeom>
          <a:noFill/>
          <a:ln/>
        </p:spPr>
        <p:txBody>
          <a:bodyPr wrap="square" lIns="0" tIns="0" rIns="0" bIns="0" rtlCol="0" anchor="t"/>
          <a:lstStyle/>
          <a:p>
            <a:pPr indent="0" marL="0">
              <a:buNone/>
            </a:pPr>
            <a:r>
              <a:rPr lang="en-US" sz="1350" dirty="0">
                <a:solidFill>
                  <a:schemeClr val="tx2"/>
                </a:solidFill>
              </a:rPr>
              <a:t>p50 server latency, live at 274 payments/s on 3 vCPUs</a:t>
            </a:r>
            <a:endParaRPr lang="en-US" sz="1350" dirty="0"/>
          </a:p>
        </p:txBody>
      </p:sp>
      <p:sp>
        <p:nvSpPr>
          <p:cNvPr id="22" name="Text 20"/>
          <p:cNvSpPr txBox="1"/>
          <p:nvPr/>
        </p:nvSpPr>
        <p:spPr>
          <a:xfrm>
            <a:off x="548640" y="5349240"/>
            <a:ext cx="11094415" cy="731520"/>
          </a:xfrm>
          <a:prstGeom prst="rect">
            <a:avLst/>
          </a:prstGeom>
          <a:noFill/>
          <a:ln/>
        </p:spPr>
        <p:txBody>
          <a:bodyPr wrap="square" lIns="0" tIns="0" rIns="0" bIns="0" rtlCol="0" anchor="t"/>
          <a:lstStyle/>
          <a:p>
            <a:pPr indent="0" marL="0">
              <a:buNone/>
            </a:pPr>
            <a:r>
              <a:rPr lang="en-US" sz="1500" b="1" dirty="0">
                <a:solidFill>
                  <a:schemeClr val="tx1"/>
                </a:solidFill>
              </a:rPr>
              <a:t>What this measures: </a:t>
            </a:r>
            <a:pPr indent="0" marL="0">
              <a:buNone/>
            </a:pPr>
            <a:r>
              <a:rPr lang="en-US" sz="1500" dirty="0">
                <a:solidFill>
                  <a:schemeClr val="tx2"/>
                </a:solidFill>
              </a:rPr>
              <a:t>the data labels laundering, not scams, so these numbers are about breaking the mule-account chains scam money flows through. Thresholds were tuned on two validation days; the test days were scored once.</a:t>
            </a:r>
            <a:endParaRPr lang="en-US" sz="1500" dirty="0"/>
          </a:p>
        </p:txBody>
      </p:sp>
      <p:sp>
        <p:nvSpPr>
          <p:cNvPr id="23"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z17 VM · test days 9–10 Sep, 862,792 payments · docs/MODEL_CARD.md, docs/evidence/value_hold, docs/evidence/claims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TELUM II ON-CHIP AI</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What the Telum II speeds up</a:t>
            </a:r>
            <a:endParaRPr lang="en-US" sz="3600" dirty="0"/>
          </a:p>
        </p:txBody>
      </p:sp>
      <p:sp>
        <p:nvSpPr>
          <p:cNvPr id="4" name="chart frame"/>
          <p:cNvSpPr/>
          <p:nvPr/>
        </p:nvSpPr>
        <p:spPr>
          <a:xfrm>
            <a:off x="548640" y="1691640"/>
            <a:ext cx="6400800" cy="4389120"/>
          </a:xfrm>
          <a:prstGeom prst="roundRect">
            <a:avLst>
              <a:gd name="adj" fmla="val 2500"/>
            </a:avLst>
          </a:prstGeom>
          <a:solidFill>
            <a:schemeClr val="bg1"/>
          </a:solidFill>
          <a:ln w="12700">
            <a:solidFill>
              <a:schemeClr val="accent4"/>
            </a:solidFill>
            <a:prstDash val="solid"/>
          </a:ln>
        </p:spPr>
      </p:sp>
      <p:pic>
        <p:nvPicPr>
          <p:cNvPr id="5" name="nnpa chart" descr="Payment autoencoder on IBM z17: payments per second and p50 time per batch, CPU versus Telum II NNPA, batch 1 to 16,384. CPU faster up to 256; NNPA faster from 1,024.">    </p:cNvPr>
          <p:cNvPicPr>
            <a:picLocks noChangeAspect="1"/>
          </p:cNvPicPr>
          <p:nvPr/>
        </p:nvPicPr>
        <p:blipFill>
          <a:blip r:embed="rId1"/>
          <a:stretch>
            <a:fillRect/>
          </a:stretch>
        </p:blipFill>
        <p:spPr>
          <a:xfrm>
            <a:off x="685800" y="2772295"/>
            <a:ext cx="6126480" cy="2227811"/>
          </a:xfrm>
          <a:prstGeom prst="rect">
            <a:avLst/>
          </a:prstGeom>
        </p:spPr>
      </p:pic>
      <p:sp>
        <p:nvSpPr>
          <p:cNvPr id="6" name="hw 1"/>
          <p:cNvSpPr/>
          <p:nvPr/>
        </p:nvSpPr>
        <p:spPr>
          <a:xfrm>
            <a:off x="7223760" y="1691640"/>
            <a:ext cx="4419295" cy="1371600"/>
          </a:xfrm>
          <a:prstGeom prst="roundRect">
            <a:avLst>
              <a:gd name="adj" fmla="val 8000"/>
            </a:avLst>
          </a:prstGeom>
          <a:solidFill>
            <a:schemeClr val="bg1"/>
          </a:solidFill>
          <a:ln w="12700">
            <a:solidFill>
              <a:schemeClr val="accent4"/>
            </a:solidFill>
            <a:prstDash val="solid"/>
          </a:ln>
        </p:spPr>
      </p:sp>
      <p:sp>
        <p:nvSpPr>
          <p:cNvPr id="7" name="Text 4"/>
          <p:cNvSpPr txBox="1"/>
          <p:nvPr/>
        </p:nvSpPr>
        <p:spPr>
          <a:xfrm>
            <a:off x="7498080" y="1856232"/>
            <a:ext cx="3870655" cy="365760"/>
          </a:xfrm>
          <a:prstGeom prst="rect">
            <a:avLst/>
          </a:prstGeom>
          <a:noFill/>
          <a:ln/>
        </p:spPr>
        <p:txBody>
          <a:bodyPr wrap="square" lIns="0" tIns="0" rIns="0" bIns="0" rtlCol="0" anchor="t"/>
          <a:lstStyle/>
          <a:p>
            <a:pPr indent="0" marL="0">
              <a:buNone/>
            </a:pPr>
            <a:r>
              <a:rPr lang="en-US" sz="1800" b="1" dirty="0">
                <a:solidFill>
                  <a:schemeClr val="tx1"/>
                </a:solidFill>
              </a:rPr>
              <a:t>The model: up to 1.4×</a:t>
            </a:r>
            <a:endParaRPr lang="en-US" sz="1800" dirty="0"/>
          </a:p>
        </p:txBody>
      </p:sp>
      <p:sp>
        <p:nvSpPr>
          <p:cNvPr id="8" name="Text 5"/>
          <p:cNvSpPr txBox="1"/>
          <p:nvPr/>
        </p:nvSpPr>
        <p:spPr>
          <a:xfrm>
            <a:off x="7498080" y="2258568"/>
            <a:ext cx="3870655" cy="731520"/>
          </a:xfrm>
          <a:prstGeom prst="rect">
            <a:avLst/>
          </a:prstGeom>
          <a:noFill/>
          <a:ln/>
        </p:spPr>
        <p:txBody>
          <a:bodyPr wrap="square" lIns="0" tIns="0" rIns="0" bIns="0" rtlCol="0" anchor="t"/>
          <a:lstStyle/>
          <a:p>
            <a:pPr indent="0" marL="0">
              <a:buNone/>
            </a:pPr>
            <a:r>
              <a:rPr lang="en-US" sz="1400" b="1" dirty="0">
                <a:solidFill>
                  <a:schemeClr val="tx1"/>
                </a:solidFill>
              </a:rPr>
              <a:t>1.2×</a:t>
            </a:r>
            <a:pPr indent="0" marL="0">
              <a:buNone/>
            </a:pPr>
            <a:r>
              <a:rPr lang="en-US" sz="1400" dirty="0">
                <a:solidFill>
                  <a:schemeClr val="tx2"/>
                </a:solidFill>
              </a:rPr>
              <a:t> at 1,024 per call, </a:t>
            </a:r>
            <a:pPr indent="0" marL="0">
              <a:buNone/>
            </a:pPr>
            <a:r>
              <a:rPr lang="en-US" sz="1400" b="1" dirty="0">
                <a:solidFill>
                  <a:schemeClr val="tx1"/>
                </a:solidFill>
              </a:rPr>
              <a:t>1.4×</a:t>
            </a:r>
            <a:pPr indent="0" marL="0">
              <a:buNone/>
            </a:pPr>
            <a:r>
              <a:rPr lang="en-US" sz="1400" dirty="0">
                <a:solidFill>
                  <a:schemeClr val="tx2"/>
                </a:solidFill>
              </a:rPr>
              <a:t> at 4,096. Below ~256 the CPU wins, so single payments stay on the CPU.</a:t>
            </a:r>
            <a:endParaRPr lang="en-US" sz="1400" dirty="0"/>
          </a:p>
        </p:txBody>
      </p:sp>
      <p:sp>
        <p:nvSpPr>
          <p:cNvPr id="9" name="hw 2"/>
          <p:cNvSpPr/>
          <p:nvPr/>
        </p:nvSpPr>
        <p:spPr>
          <a:xfrm>
            <a:off x="7223760" y="3200400"/>
            <a:ext cx="4419295" cy="1371600"/>
          </a:xfrm>
          <a:prstGeom prst="roundRect">
            <a:avLst>
              <a:gd name="adj" fmla="val 8000"/>
            </a:avLst>
          </a:prstGeom>
          <a:solidFill>
            <a:schemeClr val="bg1"/>
          </a:solidFill>
          <a:ln w="12700">
            <a:solidFill>
              <a:schemeClr val="accent4"/>
            </a:solidFill>
            <a:prstDash val="solid"/>
          </a:ln>
        </p:spPr>
      </p:sp>
      <p:sp>
        <p:nvSpPr>
          <p:cNvPr id="10" name="Text 7"/>
          <p:cNvSpPr txBox="1"/>
          <p:nvPr/>
        </p:nvSpPr>
        <p:spPr>
          <a:xfrm>
            <a:off x="7498080" y="3364992"/>
            <a:ext cx="3870655" cy="365760"/>
          </a:xfrm>
          <a:prstGeom prst="rect">
            <a:avLst/>
          </a:prstGeom>
          <a:noFill/>
          <a:ln/>
        </p:spPr>
        <p:txBody>
          <a:bodyPr wrap="square" lIns="0" tIns="0" rIns="0" bIns="0" rtlCol="0" anchor="t"/>
          <a:lstStyle/>
          <a:p>
            <a:pPr indent="0" marL="0">
              <a:buNone/>
            </a:pPr>
            <a:r>
              <a:rPr lang="en-US" sz="1800" b="1" dirty="0">
                <a:solidFill>
                  <a:schemeClr val="tx1"/>
                </a:solidFill>
              </a:rPr>
              <a:t>Live: bulk files on the NNPA</a:t>
            </a:r>
            <a:endParaRPr lang="en-US" sz="1800" dirty="0"/>
          </a:p>
        </p:txBody>
      </p:sp>
      <p:sp>
        <p:nvSpPr>
          <p:cNvPr id="11" name="Text 8"/>
          <p:cNvSpPr txBox="1"/>
          <p:nvPr/>
        </p:nvSpPr>
        <p:spPr>
          <a:xfrm>
            <a:off x="7498080" y="3767328"/>
            <a:ext cx="3870655" cy="731520"/>
          </a:xfrm>
          <a:prstGeom prst="rect">
            <a:avLst/>
          </a:prstGeom>
          <a:noFill/>
          <a:ln/>
        </p:spPr>
        <p:txBody>
          <a:bodyPr wrap="square" lIns="0" tIns="0" rIns="0" bIns="0" rtlCol="0" anchor="t"/>
          <a:lstStyle/>
          <a:p>
            <a:pPr indent="0" marL="0">
              <a:buNone/>
            </a:pPr>
            <a:r>
              <a:rPr lang="en-US" sz="1400" dirty="0">
                <a:solidFill>
                  <a:schemeClr val="tx2"/>
                </a:solidFill>
              </a:rPr>
              <a:t>A 2,048-payment bulk file runs in one call: </a:t>
            </a:r>
            <a:pPr indent="0" marL="0">
              <a:buNone/>
            </a:pPr>
            <a:r>
              <a:rPr lang="en-US" sz="1400" b="1" dirty="0">
                <a:solidFill>
                  <a:schemeClr val="tx1"/>
                </a:solidFill>
              </a:rPr>
              <a:t>40,960 of 40,960</a:t>
            </a:r>
            <a:pPr indent="0" marL="0">
              <a:buNone/>
            </a:pPr>
            <a:r>
              <a:rPr lang="en-US" sz="1400" dirty="0">
                <a:solidFill>
                  <a:schemeClr val="tx2"/>
                </a:solidFill>
              </a:rPr>
              <a:t> payments scored on the Telum II.</a:t>
            </a:r>
            <a:endParaRPr lang="en-US" sz="1400" dirty="0"/>
          </a:p>
        </p:txBody>
      </p:sp>
      <p:sp>
        <p:nvSpPr>
          <p:cNvPr id="12" name="hw 3"/>
          <p:cNvSpPr/>
          <p:nvPr/>
        </p:nvSpPr>
        <p:spPr>
          <a:xfrm>
            <a:off x="7223760" y="4709160"/>
            <a:ext cx="4419295" cy="1371600"/>
          </a:xfrm>
          <a:prstGeom prst="roundRect">
            <a:avLst>
              <a:gd name="adj" fmla="val 8000"/>
            </a:avLst>
          </a:prstGeom>
          <a:solidFill>
            <a:schemeClr val="bg1"/>
          </a:solidFill>
          <a:ln w="12700">
            <a:solidFill>
              <a:schemeClr val="accent4"/>
            </a:solidFill>
            <a:prstDash val="solid"/>
          </a:ln>
        </p:spPr>
      </p:sp>
      <p:sp>
        <p:nvSpPr>
          <p:cNvPr id="13" name="Text 10"/>
          <p:cNvSpPr txBox="1"/>
          <p:nvPr/>
        </p:nvSpPr>
        <p:spPr>
          <a:xfrm>
            <a:off x="7498080" y="4873752"/>
            <a:ext cx="3870655" cy="365760"/>
          </a:xfrm>
          <a:prstGeom prst="rect">
            <a:avLst/>
          </a:prstGeom>
          <a:noFill/>
          <a:ln/>
        </p:spPr>
        <p:txBody>
          <a:bodyPr wrap="square" lIns="0" tIns="0" rIns="0" bIns="0" rtlCol="0" anchor="t"/>
          <a:lstStyle/>
          <a:p>
            <a:pPr indent="0" marL="0">
              <a:buNone/>
            </a:pPr>
            <a:r>
              <a:rPr lang="en-US" sz="1800" b="1" dirty="0">
                <a:solidFill>
                  <a:schemeClr val="tx1"/>
                </a:solidFill>
              </a:rPr>
              <a:t>End to end: no gain yet</a:t>
            </a:r>
            <a:endParaRPr lang="en-US" sz="1800" dirty="0"/>
          </a:p>
        </p:txBody>
      </p:sp>
      <p:sp>
        <p:nvSpPr>
          <p:cNvPr id="14" name="Text 11"/>
          <p:cNvSpPr txBox="1"/>
          <p:nvPr/>
        </p:nvSpPr>
        <p:spPr>
          <a:xfrm>
            <a:off x="7498080" y="5276088"/>
            <a:ext cx="3870655" cy="731520"/>
          </a:xfrm>
          <a:prstGeom prst="rect">
            <a:avLst/>
          </a:prstGeom>
          <a:noFill/>
          <a:ln/>
        </p:spPr>
        <p:txBody>
          <a:bodyPr wrap="square" lIns="0" tIns="0" rIns="0" bIns="0" rtlCol="0" anchor="t"/>
          <a:lstStyle/>
          <a:p>
            <a:pPr indent="0" marL="0">
              <a:buNone/>
            </a:pPr>
            <a:r>
              <a:rPr lang="en-US" sz="1400" dirty="0">
                <a:solidFill>
                  <a:schemeClr val="tx2"/>
                </a:solidFill>
              </a:rPr>
              <a:t>1,562 vs 1,610 payments/s, inside the ±20% noise. </a:t>
            </a:r>
            <a:pPr indent="0" marL="0">
              <a:buNone/>
            </a:pPr>
            <a:r>
              <a:rPr lang="en-US" sz="1400" b="1" dirty="0">
                <a:solidFill>
                  <a:schemeClr val="tx1"/>
                </a:solidFill>
              </a:rPr>
              <a:t>Next:</a:t>
            </a:r>
            <a:pPr indent="0" marL="0">
              <a:buNone/>
            </a:pPr>
            <a:r>
              <a:rPr lang="en-US" sz="1400" dirty="0">
                <a:solidFill>
                  <a:schemeClr val="tx2"/>
                </a:solidFill>
              </a:rPr>
              <a:t> the tree model on the accelerator.</a:t>
            </a:r>
            <a:endParaRPr lang="en-US" sz="1400" dirty="0"/>
          </a:p>
        </p:txBody>
      </p:sp>
      <p:sp>
        <p:nvSpPr>
          <p:cNvPr id="15"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z17 VM, PyTorch 2.11 + torch_nnpa 1.5 · docs/evidence/bench (bench_autoencoder.csv, bulk_file_nnpa_vs_cpu.txt)</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1"/>
                </a:solidFill>
              </a:rPr>
              <a:t>RESPONSIBLE AI</a:t>
            </a:r>
            <a:endParaRPr lang="en-US" sz="1300" dirty="0"/>
          </a:p>
        </p:txBody>
      </p:sp>
      <p:sp>
        <p:nvSpPr>
          <p:cNvPr id="3" name="Text 0"/>
          <p:cNvSpPr/>
          <p:nvPr>
            <p:ph idx="101" type="title" hasCustomPrompt="1"/>
          </p:nvPr>
        </p:nvSpPr>
        <p:spPr>
          <a:xfrm>
            <a:off x="548640" y="713232"/>
            <a:ext cx="11094415" cy="731520"/>
          </a:xfrm>
          <a:prstGeom prst="rect">
            <a:avLst/>
          </a:prstGeom>
          <a:noFill/>
          <a:ln/>
        </p:spPr>
        <p:txBody>
          <a:bodyPr wrap="square" lIns="0" tIns="0" rIns="0" bIns="0" rtlCol="0" anchor="t"/>
          <a:lstStyle/>
          <a:p>
            <a:pPr algn="l" indent="0" marL="0">
              <a:buNone/>
            </a:pPr>
            <a:r>
              <a:rPr lang="en-US" sz="3600" b="1" dirty="0">
                <a:solidFill>
                  <a:schemeClr val="tx1"/>
                </a:solidFill>
              </a:rPr>
              <a:t>Human-led, transparent, honest</a:t>
            </a:r>
            <a:endParaRPr lang="en-US" sz="3600" dirty="0"/>
          </a:p>
        </p:txBody>
      </p:sp>
      <p:sp>
        <p:nvSpPr>
          <p:cNvPr id="4" name="human in the loop"/>
          <p:cNvSpPr/>
          <p:nvPr/>
        </p:nvSpPr>
        <p:spPr>
          <a:xfrm>
            <a:off x="548640" y="1691640"/>
            <a:ext cx="3515258" cy="4389120"/>
          </a:xfrm>
          <a:prstGeom prst="roundRect">
            <a:avLst>
              <a:gd name="adj" fmla="val 3121"/>
            </a:avLst>
          </a:prstGeom>
          <a:solidFill>
            <a:schemeClr val="bg1"/>
          </a:solidFill>
          <a:ln w="12700">
            <a:solidFill>
              <a:schemeClr val="accent4"/>
            </a:solidFill>
            <a:prstDash val="solid"/>
          </a:ln>
        </p:spPr>
      </p:sp>
      <p:sp>
        <p:nvSpPr>
          <p:cNvPr id="5" name="Text 3"/>
          <p:cNvSpPr txBox="1"/>
          <p:nvPr/>
        </p:nvSpPr>
        <p:spPr>
          <a:xfrm>
            <a:off x="822960" y="1874520"/>
            <a:ext cx="2966618" cy="411480"/>
          </a:xfrm>
          <a:prstGeom prst="rect">
            <a:avLst/>
          </a:prstGeom>
          <a:noFill/>
          <a:ln/>
        </p:spPr>
        <p:txBody>
          <a:bodyPr wrap="square" lIns="0" tIns="0" rIns="0" bIns="0" rtlCol="0" anchor="t"/>
          <a:lstStyle/>
          <a:p>
            <a:pPr indent="0" marL="0">
              <a:buNone/>
            </a:pPr>
            <a:r>
              <a:rPr lang="en-US" sz="1900" b="1" dirty="0">
                <a:solidFill>
                  <a:schemeClr val="tx1"/>
                </a:solidFill>
              </a:rPr>
              <a:t>Human in the loop</a:t>
            </a:r>
            <a:endParaRPr lang="en-US" sz="1900" dirty="0"/>
          </a:p>
        </p:txBody>
      </p:sp>
      <p:pic>
        <p:nvPicPr>
          <p:cNvPr id="6" name="check 1" descr="preencoded.png">    </p:cNvPr>
          <p:cNvPicPr>
            <a:picLocks noChangeAspect="1"/>
          </p:cNvPicPr>
          <p:nvPr/>
        </p:nvPicPr>
        <p:blipFill>
          <a:blip r:embed="rId1"/>
          <a:stretch>
            <a:fillRect/>
          </a:stretch>
        </p:blipFill>
        <p:spPr>
          <a:xfrm>
            <a:off x="822960" y="2496312"/>
            <a:ext cx="292608" cy="292608"/>
          </a:xfrm>
          <a:prstGeom prst="rect">
            <a:avLst/>
          </a:prstGeom>
        </p:spPr>
      </p:pic>
      <p:sp>
        <p:nvSpPr>
          <p:cNvPr id="7" name="Text 4"/>
          <p:cNvSpPr txBox="1"/>
          <p:nvPr/>
        </p:nvSpPr>
        <p:spPr>
          <a:xfrm>
            <a:off x="1280160" y="2468880"/>
            <a:ext cx="2509418" cy="1005840"/>
          </a:xfrm>
          <a:prstGeom prst="rect">
            <a:avLst/>
          </a:prstGeom>
          <a:noFill/>
          <a:ln/>
        </p:spPr>
        <p:txBody>
          <a:bodyPr wrap="square" lIns="0" tIns="0" rIns="0" bIns="0" rtlCol="0" anchor="t"/>
          <a:lstStyle/>
          <a:p>
            <a:pPr indent="0" marL="0">
              <a:buNone/>
            </a:pPr>
            <a:r>
              <a:rPr lang="en-US" sz="1400" b="1" dirty="0">
                <a:solidFill>
                  <a:schemeClr val="tx1"/>
                </a:solidFill>
              </a:rPr>
              <a:t>A warning never blocks.</a:t>
            </a:r>
            <a:pPr indent="0" marL="0">
              <a:buNone/>
            </a:pPr>
            <a:r>
              <a:rPr lang="en-US" sz="1400" dirty="0">
                <a:solidFill>
                  <a:schemeClr val="tx2"/>
                </a:solidFill>
              </a:rPr>
              <a:t> The customer decides.</a:t>
            </a:r>
            <a:endParaRPr lang="en-US" sz="1400" dirty="0"/>
          </a:p>
        </p:txBody>
      </p:sp>
      <p:pic>
        <p:nvPicPr>
          <p:cNvPr id="8" name="check 2" descr="preencoded.png">    </p:cNvPr>
          <p:cNvPicPr>
            <a:picLocks noChangeAspect="1"/>
          </p:cNvPicPr>
          <p:nvPr/>
        </p:nvPicPr>
        <p:blipFill>
          <a:blip r:embed="rId2"/>
          <a:stretch>
            <a:fillRect/>
          </a:stretch>
        </p:blipFill>
        <p:spPr>
          <a:xfrm>
            <a:off x="822960" y="3639312"/>
            <a:ext cx="292608" cy="292608"/>
          </a:xfrm>
          <a:prstGeom prst="rect">
            <a:avLst/>
          </a:prstGeom>
        </p:spPr>
      </p:pic>
      <p:sp>
        <p:nvSpPr>
          <p:cNvPr id="9" name="Text 5"/>
          <p:cNvSpPr txBox="1"/>
          <p:nvPr/>
        </p:nvSpPr>
        <p:spPr>
          <a:xfrm>
            <a:off x="1280160" y="3611880"/>
            <a:ext cx="2509418" cy="1005840"/>
          </a:xfrm>
          <a:prstGeom prst="rect">
            <a:avLst/>
          </a:prstGeom>
          <a:noFill/>
          <a:ln/>
        </p:spPr>
        <p:txBody>
          <a:bodyPr wrap="square" lIns="0" tIns="0" rIns="0" bIns="0" rtlCol="0" anchor="t"/>
          <a:lstStyle/>
          <a:p>
            <a:pPr indent="0" marL="0">
              <a:buNone/>
            </a:pPr>
            <a:r>
              <a:rPr lang="en-US" sz="1400" b="1" dirty="0">
                <a:solidFill>
                  <a:schemeClr val="tx1"/>
                </a:solidFill>
              </a:rPr>
              <a:t>A hold always goes to a human,</a:t>
            </a:r>
            <a:pPr indent="0" marL="0">
              <a:buNone/>
            </a:pPr>
            <a:r>
              <a:rPr lang="en-US" sz="1400" dirty="0">
                <a:solidFill>
                  <a:schemeClr val="tx2"/>
                </a:solidFill>
              </a:rPr>
              <a:t> who calls back on a number the bank already has.</a:t>
            </a:r>
            <a:endParaRPr lang="en-US" sz="1400" dirty="0"/>
          </a:p>
        </p:txBody>
      </p:sp>
      <p:pic>
        <p:nvPicPr>
          <p:cNvPr id="10" name="check 3" descr="preencoded.png">    </p:cNvPr>
          <p:cNvPicPr>
            <a:picLocks noChangeAspect="1"/>
          </p:cNvPicPr>
          <p:nvPr/>
        </p:nvPicPr>
        <p:blipFill>
          <a:blip r:embed="rId3"/>
          <a:stretch>
            <a:fillRect/>
          </a:stretch>
        </p:blipFill>
        <p:spPr>
          <a:xfrm>
            <a:off x="822960" y="4782312"/>
            <a:ext cx="292608" cy="292608"/>
          </a:xfrm>
          <a:prstGeom prst="rect">
            <a:avLst/>
          </a:prstGeom>
        </p:spPr>
      </p:pic>
      <p:sp>
        <p:nvSpPr>
          <p:cNvPr id="11" name="Text 6"/>
          <p:cNvSpPr txBox="1"/>
          <p:nvPr/>
        </p:nvSpPr>
        <p:spPr>
          <a:xfrm>
            <a:off x="1280160" y="4754880"/>
            <a:ext cx="2509418" cy="1005840"/>
          </a:xfrm>
          <a:prstGeom prst="rect">
            <a:avLst/>
          </a:prstGeom>
          <a:noFill/>
          <a:ln/>
        </p:spPr>
        <p:txBody>
          <a:bodyPr wrap="square" lIns="0" tIns="0" rIns="0" bIns="0" rtlCol="0" anchor="t"/>
          <a:lstStyle/>
          <a:p>
            <a:pPr indent="0" marL="0">
              <a:buNone/>
            </a:pPr>
            <a:r>
              <a:rPr lang="en-US" sz="1400" b="1" dirty="0">
                <a:solidFill>
                  <a:schemeClr val="tx1"/>
                </a:solidFill>
              </a:rPr>
              <a:t>Reasons on every decision.</a:t>
            </a:r>
            <a:pPr indent="0" marL="0">
              <a:buNone/>
            </a:pPr>
            <a:r>
              <a:rPr lang="en-US" sz="1400" dirty="0">
                <a:solidFill>
                  <a:schemeClr val="tx2"/>
                </a:solidFill>
              </a:rPr>
              <a:t> Granite sees pseudonymised facts only.</a:t>
            </a:r>
            <a:endParaRPr lang="en-US" sz="1400" dirty="0"/>
          </a:p>
        </p:txBody>
      </p:sp>
      <p:sp>
        <p:nvSpPr>
          <p:cNvPr id="12" name="fairness"/>
          <p:cNvSpPr/>
          <p:nvPr/>
        </p:nvSpPr>
        <p:spPr>
          <a:xfrm>
            <a:off x="4338218" y="1691640"/>
            <a:ext cx="3515258" cy="4389120"/>
          </a:xfrm>
          <a:prstGeom prst="roundRect">
            <a:avLst>
              <a:gd name="adj" fmla="val 3121"/>
            </a:avLst>
          </a:prstGeom>
          <a:solidFill>
            <a:schemeClr val="bg1"/>
          </a:solidFill>
          <a:ln w="12700">
            <a:solidFill>
              <a:schemeClr val="accent4"/>
            </a:solidFill>
            <a:prstDash val="solid"/>
          </a:ln>
        </p:spPr>
      </p:sp>
      <p:sp>
        <p:nvSpPr>
          <p:cNvPr id="13" name="Text 8"/>
          <p:cNvSpPr txBox="1"/>
          <p:nvPr/>
        </p:nvSpPr>
        <p:spPr>
          <a:xfrm>
            <a:off x="4612538" y="1874520"/>
            <a:ext cx="2966618" cy="411480"/>
          </a:xfrm>
          <a:prstGeom prst="rect">
            <a:avLst/>
          </a:prstGeom>
          <a:noFill/>
          <a:ln/>
        </p:spPr>
        <p:txBody>
          <a:bodyPr wrap="square" lIns="0" tIns="0" rIns="0" bIns="0" rtlCol="0" anchor="t"/>
          <a:lstStyle/>
          <a:p>
            <a:pPr indent="0" marL="0">
              <a:buNone/>
            </a:pPr>
            <a:r>
              <a:rPr lang="en-US" sz="1900" b="1" dirty="0">
                <a:solidFill>
                  <a:schemeClr val="tx1"/>
                </a:solidFill>
              </a:rPr>
              <a:t>False alarms by group</a:t>
            </a:r>
            <a:endParaRPr lang="en-US" sz="1900" dirty="0"/>
          </a:p>
        </p:txBody>
      </p:sp>
      <p:graphicFrame>
        <p:nvGraphicFramePr>
          <p:cNvPr id="10" name="fairness table"/>
          <p:cNvGraphicFramePr>
            <a:graphicFrameLocks noGrp="1"/>
          </p:cNvGraphicFramePr>
          <p:nvPr>
            <p:extLst>
              <p:ext uri="{D42A27DB-BD31-4B8C-83A1-F6EECF244321}">
                <p14:modId xmlns:p14="http://schemas.microsoft.com/office/powerpoint/2010/main" val="1579011935"/>
              </p:ext>
            </p:extLst>
          </p:nvPr>
        </p:nvGraphicFramePr>
        <p:xfrm>
          <a:off x="4612538" y="2423160"/>
          <a:ext cx="2966618" cy="914400"/>
        </p:xfrm>
        <a:graphic>
          <a:graphicData uri="http://schemas.openxmlformats.org/drawingml/2006/table">
            <a:tbl>
              <a:tblPr/>
              <a:tblGrid>
                <a:gridCol w="1554480"/>
                <a:gridCol w="1412138"/>
              </a:tblGrid>
              <a:tr h="329184">
                <a:tc>
                  <a:txBody>
                    <a:bodyPr/>
                    <a:lstStyle/>
                    <a:p>
                      <a:pPr indent="0" marL="0">
                        <a:buNone/>
                      </a:pPr>
                      <a:r>
                        <a:rPr lang="en-US" sz="1300" b="1" dirty="0">
                          <a:solidFill>
                            <a:srgbClr val="0E1A2B"/>
                          </a:solidFill>
                          <a:latin typeface="Calibri" pitchFamily="34" charset="0"/>
                          <a:ea typeface="Calibri" pitchFamily="34" charset="-122"/>
                          <a:cs typeface="Calibri" pitchFamily="34" charset="-120"/>
                        </a:rPr>
                        <a:t>Group</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solidFill>
                      <a:srgbClr val="F5F6F2"/>
                    </a:solidFill>
                  </a:tcPr>
                </a:tc>
                <a:tc>
                  <a:txBody>
                    <a:bodyPr/>
                    <a:lstStyle/>
                    <a:p>
                      <a:pPr indent="0" marL="0">
                        <a:buNone/>
                      </a:pPr>
                      <a:r>
                        <a:rPr lang="en-US" sz="1300" b="1" dirty="0">
                          <a:solidFill>
                            <a:srgbClr val="0E1A2B"/>
                          </a:solidFill>
                          <a:latin typeface="Calibri" pitchFamily="34" charset="0"/>
                          <a:ea typeface="Calibri" pitchFamily="34" charset="-122"/>
                          <a:cs typeface="Calibri" pitchFamily="34" charset="-120"/>
                        </a:rPr>
                        <a:t>Honest payments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solidFill>
                      <a:srgbClr val="F5F6F2"/>
                    </a:solidFill>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Fiat currencies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1.6–2.3% each</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ACH format</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10.4%</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Smallest banks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2.6%</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r h="329184">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Biggest banks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c>
                  <a:txBody>
                    <a:bodyPr/>
                    <a:lstStyle/>
                    <a:p>
                      <a:pPr indent="0" marL="0">
                        <a:buNone/>
                      </a:pPr>
                      <a:r>
                        <a:rPr lang="en-US" sz="1300" dirty="0">
                          <a:solidFill>
                            <a:srgbClr val="14213D"/>
                          </a:solidFill>
                          <a:latin typeface="Calibri" pitchFamily="34" charset="0"/>
                          <a:ea typeface="Calibri" pitchFamily="34" charset="-122"/>
                          <a:cs typeface="Calibri" pitchFamily="34" charset="-120"/>
                        </a:rPr>
                        <a:t>0.74% (3.4× less)</a:t>
                      </a:r>
                      <a:endParaRPr lang="en-US" sz="1300" dirty="0">
                        <a:latin typeface="Calibri" charset="0"/>
                        <a:ea typeface="Calibri" charset="0"/>
                        <a:cs typeface="Calibri" charset="0"/>
                      </a:endParaRPr>
                    </a:p>
                  </a:txBody>
                  <a:tcPr marL="91440" marR="91440" marT="45720" marB="45720">
                    <a:lnL w="12700" cap="flat" cmpd="sng" algn="ctr">
                      <a:solidFill>
                        <a:srgbClr val="DDE1D8"/>
                      </a:solidFill>
                      <a:prstDash val="solid"/>
                      <a:round/>
                      <a:headEnd type="none" w="med" len="med"/>
                      <a:tailEnd type="none" w="med" len="med"/>
                    </a:lnL>
                    <a:lnR w="12700" cap="flat" cmpd="sng" algn="ctr">
                      <a:solidFill>
                        <a:srgbClr val="DDE1D8"/>
                      </a:solidFill>
                      <a:prstDash val="solid"/>
                      <a:round/>
                      <a:headEnd type="none" w="med" len="med"/>
                      <a:tailEnd type="none" w="med" len="med"/>
                    </a:lnR>
                    <a:lnT w="12700" cap="flat" cmpd="sng" algn="ctr">
                      <a:solidFill>
                        <a:srgbClr val="DDE1D8"/>
                      </a:solidFill>
                      <a:prstDash val="solid"/>
                      <a:round/>
                      <a:headEnd type="none" w="med" len="med"/>
                      <a:tailEnd type="none" w="med" len="med"/>
                    </a:lnT>
                    <a:lnB w="12700" cap="flat" cmpd="sng" algn="ctr">
                      <a:solidFill>
                        <a:srgbClr val="DDE1D8"/>
                      </a:solidFill>
                      <a:prstDash val="solid"/>
                      <a:round/>
                      <a:headEnd type="none" w="med" len="med"/>
                      <a:tailEnd type="none" w="med" len="med"/>
                    </a:lnB>
                  </a:tcPr>
                </a:tc>
              </a:tr>
            </a:tbl>
          </a:graphicData>
        </a:graphic>
      </p:graphicFrame>
      <p:sp>
        <p:nvSpPr>
          <p:cNvPr id="15" name="Text 9"/>
          <p:cNvSpPr txBox="1"/>
          <p:nvPr/>
        </p:nvSpPr>
        <p:spPr>
          <a:xfrm>
            <a:off x="4612538" y="4297680"/>
            <a:ext cx="2966618" cy="1280160"/>
          </a:xfrm>
          <a:prstGeom prst="rect">
            <a:avLst/>
          </a:prstGeom>
          <a:noFill/>
          <a:ln/>
        </p:spPr>
        <p:txBody>
          <a:bodyPr wrap="square" lIns="0" tIns="0" rIns="0" bIns="0" rtlCol="0" anchor="t"/>
          <a:lstStyle/>
          <a:p>
            <a:pPr indent="0" marL="0">
              <a:buNone/>
            </a:pPr>
            <a:r>
              <a:rPr lang="en-US" sz="1400" b="1" dirty="0">
                <a:solidFill>
                  <a:schemeClr val="tx1"/>
                </a:solidFill>
              </a:rPr>
              <a:t>Measured fix: </a:t>
            </a:r>
            <a:pPr indent="0" marL="0">
              <a:buNone/>
            </a:pPr>
            <a:r>
              <a:rPr lang="en-US" sz="1400" dirty="0">
                <a:solidFill>
                  <a:schemeClr val="tx2"/>
                </a:solidFill>
              </a:rPr>
              <a:t>an ACH-only warning cap brings ACH to 6.9% and small banks to 1.2%, for 82% → 79% of laundering flagged.</a:t>
            </a:r>
            <a:endParaRPr lang="en-US" sz="1400" dirty="0"/>
          </a:p>
        </p:txBody>
      </p:sp>
      <p:sp>
        <p:nvSpPr>
          <p:cNvPr id="16" name="limitations"/>
          <p:cNvSpPr/>
          <p:nvPr/>
        </p:nvSpPr>
        <p:spPr>
          <a:xfrm>
            <a:off x="8127797" y="1691640"/>
            <a:ext cx="3515258" cy="4389120"/>
          </a:xfrm>
          <a:prstGeom prst="roundRect">
            <a:avLst>
              <a:gd name="adj" fmla="val 3121"/>
            </a:avLst>
          </a:prstGeom>
          <a:solidFill>
            <a:schemeClr val="bg1"/>
          </a:solidFill>
          <a:ln w="12700">
            <a:solidFill>
              <a:schemeClr val="accent4"/>
            </a:solidFill>
            <a:prstDash val="solid"/>
          </a:ln>
        </p:spPr>
      </p:sp>
      <p:sp>
        <p:nvSpPr>
          <p:cNvPr id="17" name="Text 11"/>
          <p:cNvSpPr txBox="1"/>
          <p:nvPr/>
        </p:nvSpPr>
        <p:spPr>
          <a:xfrm>
            <a:off x="8402117" y="1874520"/>
            <a:ext cx="2966618" cy="411480"/>
          </a:xfrm>
          <a:prstGeom prst="rect">
            <a:avLst/>
          </a:prstGeom>
          <a:noFill/>
          <a:ln/>
        </p:spPr>
        <p:txBody>
          <a:bodyPr wrap="square" lIns="0" tIns="0" rIns="0" bIns="0" rtlCol="0" anchor="t"/>
          <a:lstStyle/>
          <a:p>
            <a:pPr indent="0" marL="0">
              <a:buNone/>
            </a:pPr>
            <a:r>
              <a:rPr lang="en-US" sz="1900" b="1" dirty="0">
                <a:solidFill>
                  <a:schemeClr val="tx1"/>
                </a:solidFill>
              </a:rPr>
              <a:t>Known limitations</a:t>
            </a:r>
            <a:endParaRPr lang="en-US" sz="1900" dirty="0"/>
          </a:p>
        </p:txBody>
      </p:sp>
      <p:pic>
        <p:nvPicPr>
          <p:cNvPr id="18" name="warn 1" descr="preencoded.png">    </p:cNvPr>
          <p:cNvPicPr>
            <a:picLocks noChangeAspect="1"/>
          </p:cNvPicPr>
          <p:nvPr/>
        </p:nvPicPr>
        <p:blipFill>
          <a:blip r:embed="rId4"/>
          <a:stretch>
            <a:fillRect/>
          </a:stretch>
        </p:blipFill>
        <p:spPr>
          <a:xfrm>
            <a:off x="8402117" y="2496312"/>
            <a:ext cx="292608" cy="292608"/>
          </a:xfrm>
          <a:prstGeom prst="rect">
            <a:avLst/>
          </a:prstGeom>
        </p:spPr>
      </p:pic>
      <p:sp>
        <p:nvSpPr>
          <p:cNvPr id="19" name="Text 12"/>
          <p:cNvSpPr txBox="1"/>
          <p:nvPr/>
        </p:nvSpPr>
        <p:spPr>
          <a:xfrm>
            <a:off x="8859317" y="2468880"/>
            <a:ext cx="2509418" cy="1051560"/>
          </a:xfrm>
          <a:prstGeom prst="rect">
            <a:avLst/>
          </a:prstGeom>
          <a:noFill/>
          <a:ln/>
        </p:spPr>
        <p:txBody>
          <a:bodyPr wrap="square" lIns="0" tIns="0" rIns="0" bIns="0" rtlCol="0" anchor="t"/>
          <a:lstStyle/>
          <a:p>
            <a:pPr indent="0" marL="0">
              <a:buNone/>
            </a:pPr>
            <a:r>
              <a:rPr lang="en-US" sz="1350" b="1" dirty="0">
                <a:solidFill>
                  <a:schemeClr val="tx1"/>
                </a:solidFill>
              </a:rPr>
              <a:t>Victim or honest?</a:t>
            </a:r>
            <a:pPr indent="0" marL="0">
              <a:buNone/>
            </a:pPr>
            <a:r>
              <a:rPr lang="en-US" sz="1350" dirty="0">
                <a:solidFill>
                  <a:schemeClr val="tx2"/>
                </a:solidFill>
              </a:rPr>
              <a:t> Here a payment to a mule looks like an honest big first payment, so both get the same check.</a:t>
            </a:r>
            <a:endParaRPr lang="en-US" sz="1350" dirty="0"/>
          </a:p>
        </p:txBody>
      </p:sp>
      <p:pic>
        <p:nvPicPr>
          <p:cNvPr id="20" name="warn 2" descr="preencoded.png">    </p:cNvPr>
          <p:cNvPicPr>
            <a:picLocks noChangeAspect="1"/>
          </p:cNvPicPr>
          <p:nvPr/>
        </p:nvPicPr>
        <p:blipFill>
          <a:blip r:embed="rId5"/>
          <a:stretch>
            <a:fillRect/>
          </a:stretch>
        </p:blipFill>
        <p:spPr>
          <a:xfrm>
            <a:off x="8402117" y="3639312"/>
            <a:ext cx="292608" cy="292608"/>
          </a:xfrm>
          <a:prstGeom prst="rect">
            <a:avLst/>
          </a:prstGeom>
        </p:spPr>
      </p:pic>
      <p:sp>
        <p:nvSpPr>
          <p:cNvPr id="21" name="Text 13"/>
          <p:cNvSpPr txBox="1"/>
          <p:nvPr/>
        </p:nvSpPr>
        <p:spPr>
          <a:xfrm>
            <a:off x="8859317" y="3611880"/>
            <a:ext cx="2509418" cy="1051560"/>
          </a:xfrm>
          <a:prstGeom prst="rect">
            <a:avLst/>
          </a:prstGeom>
          <a:noFill/>
          <a:ln/>
        </p:spPr>
        <p:txBody>
          <a:bodyPr wrap="square" lIns="0" tIns="0" rIns="0" bIns="0" rtlCol="0" anchor="t"/>
          <a:lstStyle/>
          <a:p>
            <a:pPr indent="0" marL="0">
              <a:buNone/>
            </a:pPr>
            <a:r>
              <a:rPr lang="en-US" sz="1350" b="1" dirty="0">
                <a:solidFill>
                  <a:schemeClr val="tx1"/>
                </a:solidFill>
              </a:rPr>
              <a:t>Short evaluation:</a:t>
            </a:r>
            <a:pPr indent="0" marL="0">
              <a:buNone/>
            </a:pPr>
            <a:r>
              <a:rPr lang="en-US" sz="1350" dirty="0">
                <a:solidFill>
                  <a:schemeClr val="tx2"/>
                </a:solidFill>
              </a:rPr>
              <a:t> 2 validation and 2 test days; the $ figure rests on ~10 transfers.</a:t>
            </a:r>
            <a:endParaRPr lang="en-US" sz="1350" dirty="0"/>
          </a:p>
        </p:txBody>
      </p:sp>
      <p:pic>
        <p:nvPicPr>
          <p:cNvPr id="22" name="warn 3" descr="preencoded.png">    </p:cNvPr>
          <p:cNvPicPr>
            <a:picLocks noChangeAspect="1"/>
          </p:cNvPicPr>
          <p:nvPr/>
        </p:nvPicPr>
        <p:blipFill>
          <a:blip r:embed="rId6"/>
          <a:stretch>
            <a:fillRect/>
          </a:stretch>
        </p:blipFill>
        <p:spPr>
          <a:xfrm>
            <a:off x="8402117" y="4782312"/>
            <a:ext cx="292608" cy="292608"/>
          </a:xfrm>
          <a:prstGeom prst="rect">
            <a:avLst/>
          </a:prstGeom>
        </p:spPr>
      </p:pic>
      <p:sp>
        <p:nvSpPr>
          <p:cNvPr id="23" name="Text 14"/>
          <p:cNvSpPr txBox="1"/>
          <p:nvPr/>
        </p:nvSpPr>
        <p:spPr>
          <a:xfrm>
            <a:off x="8859317" y="4754880"/>
            <a:ext cx="2509418" cy="1051560"/>
          </a:xfrm>
          <a:prstGeom prst="rect">
            <a:avLst/>
          </a:prstGeom>
          <a:noFill/>
          <a:ln/>
        </p:spPr>
        <p:txBody>
          <a:bodyPr wrap="square" lIns="0" tIns="0" rIns="0" bIns="0" rtlCol="0" anchor="t"/>
          <a:lstStyle/>
          <a:p>
            <a:pPr indent="0" marL="0">
              <a:buNone/>
            </a:pPr>
            <a:r>
              <a:rPr lang="en-US" sz="1350" b="1" dirty="0">
                <a:solidFill>
                  <a:schemeClr val="tx1"/>
                </a:solidFill>
              </a:rPr>
              <a:t>Synthetic data</a:t>
            </a:r>
            <a:pPr indent="0" marL="0">
              <a:buNone/>
            </a:pPr>
            <a:r>
              <a:rPr lang="en-US" sz="1350" dirty="0">
                <a:solidFill>
                  <a:schemeClr val="tx2"/>
                </a:solidFill>
              </a:rPr>
              <a:t> (IBM AMLSim) labels laundering, not scam victims. Granite takes 1–2 min, so customers get the instant template.</a:t>
            </a:r>
            <a:endParaRPr lang="en-US" sz="1350" dirty="0"/>
          </a:p>
        </p:txBody>
      </p:sp>
      <p:sp>
        <p:nvSpPr>
          <p:cNvPr id="24" name="Text 0"/>
          <p:cNvSpPr/>
          <p:nvPr>
            <p:ph idx="102"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tx2"/>
                </a:solidFill>
              </a:rPr>
              <a:t>No demographics in the data, so fairness is audited by proxy · docs/MODEL_CARD.md, docs/evidence/claims</a:t>
            </a:r>
            <a:endParaRPr lang="en-US" sz="1100" dirty="0"/>
          </a:p>
        </p:txBody>
      </p:sp>
      <p:sp>
        <p:nvSpPr>
          <p:cNvPr id="25" name="Slide Number Placeholder 0"/>
          <p:cNvSpPr>
            <a:spLocks noGrp="1"/>
          </p:cNvSpPr>
          <p:nvPr>
            <p:ph type="sldNum" sz="quarter" idx="4294967295"/>
          </p:nvPr>
        </p:nvSpPr>
        <p:spPr>
          <a:xfrm>
            <a:off x="11094415" y="6355080"/>
            <a:ext cx="54864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84048"/>
            <a:ext cx="11094415" cy="329184"/>
          </a:xfrm>
          <a:prstGeom prst="rect">
            <a:avLst/>
          </a:prstGeom>
          <a:noFill/>
          <a:ln/>
        </p:spPr>
        <p:txBody>
          <a:bodyPr wrap="square" lIns="0" tIns="0" rIns="0" bIns="0" rtlCol="0" anchor="ctr"/>
          <a:lstStyle/>
          <a:p>
            <a:pPr indent="0" marL="0">
              <a:buNone/>
            </a:pPr>
            <a:r>
              <a:rPr lang="en-US" sz="1300" b="1" spc="200" kern="0" dirty="0">
                <a:solidFill>
                  <a:schemeClr val="accent5"/>
                </a:solidFill>
              </a:rPr>
              <a:t>IMPACT · AI FOR GOOD</a:t>
            </a:r>
            <a:endParaRPr lang="en-US" sz="1300" dirty="0"/>
          </a:p>
        </p:txBody>
      </p:sp>
      <p:sp>
        <p:nvSpPr>
          <p:cNvPr id="3" name="Text 1"/>
          <p:cNvSpPr txBox="1"/>
          <p:nvPr/>
        </p:nvSpPr>
        <p:spPr>
          <a:xfrm>
            <a:off x="548640" y="713232"/>
            <a:ext cx="11094415" cy="731520"/>
          </a:xfrm>
          <a:prstGeom prst="rect">
            <a:avLst/>
          </a:prstGeom>
          <a:noFill/>
          <a:ln/>
        </p:spPr>
        <p:txBody>
          <a:bodyPr wrap="square" lIns="0" tIns="0" rIns="0" bIns="0" rtlCol="0" anchor="t"/>
          <a:lstStyle/>
          <a:p>
            <a:pPr indent="0" marL="0">
              <a:buNone/>
            </a:pPr>
            <a:r>
              <a:rPr lang="en-US" sz="3600" b="1" dirty="0">
                <a:solidFill>
                  <a:schemeClr val="bg1"/>
                </a:solidFill>
              </a:rPr>
              <a:t>Every payment checked before it leaves</a:t>
            </a:r>
            <a:endParaRPr lang="en-US" sz="3600" dirty="0"/>
          </a:p>
        </p:txBody>
      </p:sp>
      <p:sp>
        <p:nvSpPr>
          <p:cNvPr id="4" name="impact Customers"/>
          <p:cNvSpPr/>
          <p:nvPr/>
        </p:nvSpPr>
        <p:spPr>
          <a:xfrm>
            <a:off x="548640" y="1691640"/>
            <a:ext cx="3515258" cy="1691640"/>
          </a:xfrm>
          <a:prstGeom prst="roundRect">
            <a:avLst>
              <a:gd name="adj" fmla="val 6486"/>
            </a:avLst>
          </a:prstGeom>
          <a:solidFill>
            <a:schemeClr val="accent6"/>
          </a:solidFill>
          <a:ln w="12700">
            <a:solidFill>
              <a:schemeClr val="accent6"/>
            </a:solidFill>
            <a:prstDash val="solid"/>
          </a:ln>
        </p:spPr>
      </p:sp>
      <p:sp>
        <p:nvSpPr>
          <p:cNvPr id="5" name="Text 3"/>
          <p:cNvSpPr txBox="1"/>
          <p:nvPr/>
        </p:nvSpPr>
        <p:spPr>
          <a:xfrm>
            <a:off x="822960" y="1920240"/>
            <a:ext cx="2966618" cy="411480"/>
          </a:xfrm>
          <a:prstGeom prst="rect">
            <a:avLst/>
          </a:prstGeom>
          <a:noFill/>
          <a:ln/>
        </p:spPr>
        <p:txBody>
          <a:bodyPr wrap="square" lIns="0" tIns="0" rIns="0" bIns="0" rtlCol="0" anchor="t"/>
          <a:lstStyle/>
          <a:p>
            <a:pPr indent="0" marL="0">
              <a:buNone/>
            </a:pPr>
            <a:r>
              <a:rPr lang="en-US" sz="1900" b="1" dirty="0">
                <a:solidFill>
                  <a:schemeClr val="bg1"/>
                </a:solidFill>
              </a:rPr>
              <a:t>Customers</a:t>
            </a:r>
            <a:endParaRPr lang="en-US" sz="1900" dirty="0"/>
          </a:p>
        </p:txBody>
      </p:sp>
      <p:sp>
        <p:nvSpPr>
          <p:cNvPr id="6" name="Text 4"/>
          <p:cNvSpPr txBox="1"/>
          <p:nvPr/>
        </p:nvSpPr>
        <p:spPr>
          <a:xfrm>
            <a:off x="822960" y="2377440"/>
            <a:ext cx="2966618" cy="914400"/>
          </a:xfrm>
          <a:prstGeom prst="rect">
            <a:avLst/>
          </a:prstGeom>
          <a:noFill/>
          <a:ln/>
        </p:spPr>
        <p:txBody>
          <a:bodyPr wrap="square" lIns="0" tIns="0" rIns="0" bIns="0" rtlCol="0" anchor="t"/>
          <a:lstStyle/>
          <a:p>
            <a:pPr indent="0" marL="0">
              <a:buNone/>
            </a:pPr>
            <a:r>
              <a:rPr lang="en-US" sz="1400" dirty="0">
                <a:solidFill>
                  <a:srgbClr val="B8C4D6"/>
                </a:solidFill>
              </a:rPr>
              <a:t>A clear, specific warning before the money leaves. No scores, no accusations; they decide.</a:t>
            </a:r>
            <a:endParaRPr lang="en-US" sz="1400" dirty="0"/>
          </a:p>
        </p:txBody>
      </p:sp>
      <p:sp>
        <p:nvSpPr>
          <p:cNvPr id="7" name="impact Scam analysts"/>
          <p:cNvSpPr/>
          <p:nvPr/>
        </p:nvSpPr>
        <p:spPr>
          <a:xfrm>
            <a:off x="4338218" y="1691640"/>
            <a:ext cx="3515258" cy="1691640"/>
          </a:xfrm>
          <a:prstGeom prst="roundRect">
            <a:avLst>
              <a:gd name="adj" fmla="val 6486"/>
            </a:avLst>
          </a:prstGeom>
          <a:solidFill>
            <a:schemeClr val="accent6"/>
          </a:solidFill>
          <a:ln w="12700">
            <a:solidFill>
              <a:schemeClr val="accent6"/>
            </a:solidFill>
            <a:prstDash val="solid"/>
          </a:ln>
        </p:spPr>
      </p:sp>
      <p:sp>
        <p:nvSpPr>
          <p:cNvPr id="8" name="Text 6"/>
          <p:cNvSpPr txBox="1"/>
          <p:nvPr/>
        </p:nvSpPr>
        <p:spPr>
          <a:xfrm>
            <a:off x="4612538" y="1920240"/>
            <a:ext cx="2966618" cy="411480"/>
          </a:xfrm>
          <a:prstGeom prst="rect">
            <a:avLst/>
          </a:prstGeom>
          <a:noFill/>
          <a:ln/>
        </p:spPr>
        <p:txBody>
          <a:bodyPr wrap="square" lIns="0" tIns="0" rIns="0" bIns="0" rtlCol="0" anchor="t"/>
          <a:lstStyle/>
          <a:p>
            <a:pPr indent="0" marL="0">
              <a:buNone/>
            </a:pPr>
            <a:r>
              <a:rPr lang="en-US" sz="1900" b="1" dirty="0">
                <a:solidFill>
                  <a:schemeClr val="bg1"/>
                </a:solidFill>
              </a:rPr>
              <a:t>Scam analysts</a:t>
            </a:r>
            <a:endParaRPr lang="en-US" sz="1900" dirty="0"/>
          </a:p>
        </p:txBody>
      </p:sp>
      <p:sp>
        <p:nvSpPr>
          <p:cNvPr id="9" name="Text 7"/>
          <p:cNvSpPr txBox="1"/>
          <p:nvPr/>
        </p:nvSpPr>
        <p:spPr>
          <a:xfrm>
            <a:off x="4612538" y="2377440"/>
            <a:ext cx="2966618" cy="914400"/>
          </a:xfrm>
          <a:prstGeom prst="rect">
            <a:avLst/>
          </a:prstGeom>
          <a:noFill/>
          <a:ln/>
        </p:spPr>
        <p:txBody>
          <a:bodyPr wrap="square" lIns="0" tIns="0" rIns="0" bIns="0" rtlCol="0" anchor="t"/>
          <a:lstStyle/>
          <a:p>
            <a:pPr indent="0" marL="0">
              <a:buNone/>
            </a:pPr>
            <a:r>
              <a:rPr lang="en-US" sz="1400" dirty="0">
                <a:solidFill>
                  <a:srgbClr val="B8C4D6"/>
                </a:solidFill>
              </a:rPr>
              <a:t>Only 0.074% of payments paused; 73% of them laundering, about 660× the base rate.</a:t>
            </a:r>
            <a:endParaRPr lang="en-US" sz="1400" dirty="0"/>
          </a:p>
        </p:txBody>
      </p:sp>
      <p:sp>
        <p:nvSpPr>
          <p:cNvPr id="10" name="impact The community"/>
          <p:cNvSpPr/>
          <p:nvPr/>
        </p:nvSpPr>
        <p:spPr>
          <a:xfrm>
            <a:off x="8127797" y="1691640"/>
            <a:ext cx="3515258" cy="1691640"/>
          </a:xfrm>
          <a:prstGeom prst="roundRect">
            <a:avLst>
              <a:gd name="adj" fmla="val 6486"/>
            </a:avLst>
          </a:prstGeom>
          <a:solidFill>
            <a:schemeClr val="accent6"/>
          </a:solidFill>
          <a:ln w="12700">
            <a:solidFill>
              <a:schemeClr val="accent6"/>
            </a:solidFill>
            <a:prstDash val="solid"/>
          </a:ln>
        </p:spPr>
      </p:sp>
      <p:sp>
        <p:nvSpPr>
          <p:cNvPr id="11" name="Text 9"/>
          <p:cNvSpPr txBox="1"/>
          <p:nvPr/>
        </p:nvSpPr>
        <p:spPr>
          <a:xfrm>
            <a:off x="8402117" y="1920240"/>
            <a:ext cx="2966618" cy="411480"/>
          </a:xfrm>
          <a:prstGeom prst="rect">
            <a:avLst/>
          </a:prstGeom>
          <a:noFill/>
          <a:ln/>
        </p:spPr>
        <p:txBody>
          <a:bodyPr wrap="square" lIns="0" tIns="0" rIns="0" bIns="0" rtlCol="0" anchor="t"/>
          <a:lstStyle/>
          <a:p>
            <a:pPr indent="0" marL="0">
              <a:buNone/>
            </a:pPr>
            <a:r>
              <a:rPr lang="en-US" sz="1900" b="1" dirty="0">
                <a:solidFill>
                  <a:schemeClr val="bg1"/>
                </a:solidFill>
              </a:rPr>
              <a:t>The community</a:t>
            </a:r>
            <a:endParaRPr lang="en-US" sz="1900" dirty="0"/>
          </a:p>
        </p:txBody>
      </p:sp>
      <p:sp>
        <p:nvSpPr>
          <p:cNvPr id="12" name="Text 10"/>
          <p:cNvSpPr txBox="1"/>
          <p:nvPr/>
        </p:nvSpPr>
        <p:spPr>
          <a:xfrm>
            <a:off x="8402117" y="2377440"/>
            <a:ext cx="2966618" cy="914400"/>
          </a:xfrm>
          <a:prstGeom prst="rect">
            <a:avLst/>
          </a:prstGeom>
          <a:noFill/>
          <a:ln/>
        </p:spPr>
        <p:txBody>
          <a:bodyPr wrap="square" lIns="0" tIns="0" rIns="0" bIns="0" rtlCol="0" anchor="t"/>
          <a:lstStyle/>
          <a:p>
            <a:pPr indent="0" marL="0">
              <a:buNone/>
            </a:pPr>
            <a:r>
              <a:rPr lang="en-US" sz="1400" dirty="0">
                <a:solidFill>
                  <a:srgbClr val="B8C4D6"/>
                </a:solidFill>
              </a:rPr>
              <a:t>Goes after the mule chains behind the $2.03B Australians lost to scams in 2024: 147 of 174 broken on test days.</a:t>
            </a:r>
            <a:endParaRPr lang="en-US" sz="1400" dirty="0"/>
          </a:p>
        </p:txBody>
      </p:sp>
      <p:sp>
        <p:nvSpPr>
          <p:cNvPr id="13" name="Text 11"/>
          <p:cNvSpPr txBox="1"/>
          <p:nvPr/>
        </p:nvSpPr>
        <p:spPr>
          <a:xfrm>
            <a:off x="548640" y="3611880"/>
            <a:ext cx="11094415" cy="640080"/>
          </a:xfrm>
          <a:prstGeom prst="rect">
            <a:avLst/>
          </a:prstGeom>
          <a:noFill/>
          <a:ln/>
        </p:spPr>
        <p:txBody>
          <a:bodyPr wrap="square" lIns="0" tIns="0" rIns="0" bIns="0" rtlCol="0" anchor="t"/>
          <a:lstStyle/>
          <a:p>
            <a:pPr indent="0" marL="0">
              <a:buNone/>
            </a:pPr>
            <a:r>
              <a:rPr lang="en-US" sz="1500" b="1" dirty="0">
                <a:solidFill>
                  <a:srgbClr val="F2A65A"/>
                </a:solidFill>
              </a:rPr>
              <a:t>Next: </a:t>
            </a:r>
            <a:pPr indent="0" marL="0">
              <a:buNone/>
            </a:pPr>
            <a:r>
              <a:rPr lang="en-US" sz="1500" dirty="0">
                <a:solidFill>
                  <a:srgbClr val="B8C4D6"/>
                </a:solidFill>
              </a:rPr>
              <a:t>add Confirmation of Payee mismatches, shared mule reports (e.g. AFCX) and account age; months of history, recalibration and drift monitoring.</a:t>
            </a:r>
            <a:endParaRPr lang="en-US" sz="1500" dirty="0"/>
          </a:p>
        </p:txBody>
      </p:sp>
      <p:sp>
        <p:nvSpPr>
          <p:cNvPr id="14" name="Text 12"/>
          <p:cNvSpPr txBox="1"/>
          <p:nvPr/>
        </p:nvSpPr>
        <p:spPr>
          <a:xfrm>
            <a:off x="548640" y="4434840"/>
            <a:ext cx="11094415" cy="320040"/>
          </a:xfrm>
          <a:prstGeom prst="rect">
            <a:avLst/>
          </a:prstGeom>
          <a:noFill/>
          <a:ln/>
        </p:spPr>
        <p:txBody>
          <a:bodyPr wrap="square" lIns="0" tIns="0" rIns="0" bIns="0" rtlCol="0" anchor="t"/>
          <a:lstStyle/>
          <a:p>
            <a:pPr indent="0" marL="0">
              <a:buNone/>
            </a:pPr>
            <a:r>
              <a:rPr lang="en-US" sz="1300" b="1" spc="200" kern="0" dirty="0">
                <a:solidFill>
                  <a:schemeClr val="accent5"/>
                </a:solidFill>
              </a:rPr>
              <a:t>TEAM</a:t>
            </a:r>
            <a:endParaRPr lang="en-US" sz="1300" dirty="0"/>
          </a:p>
        </p:txBody>
      </p:sp>
      <p:sp>
        <p:nvSpPr>
          <p:cNvPr id="15" name="team rule 1"/>
          <p:cNvSpPr/>
          <p:nvPr/>
        </p:nvSpPr>
        <p:spPr>
          <a:xfrm>
            <a:off x="548640" y="4846320"/>
            <a:ext cx="5410048" cy="0"/>
          </a:xfrm>
          <a:prstGeom prst="line">
            <a:avLst/>
          </a:prstGeom>
          <a:noFill/>
          <a:ln w="25400">
            <a:solidFill>
              <a:schemeClr val="accent5"/>
            </a:solidFill>
            <a:prstDash val="solid"/>
          </a:ln>
        </p:spPr>
      </p:sp>
      <p:sp>
        <p:nvSpPr>
          <p:cNvPr id="16" name="Text 14"/>
          <p:cNvSpPr txBox="1"/>
          <p:nvPr/>
        </p:nvSpPr>
        <p:spPr>
          <a:xfrm>
            <a:off x="548640" y="4983480"/>
            <a:ext cx="5410048" cy="411480"/>
          </a:xfrm>
          <a:prstGeom prst="rect">
            <a:avLst/>
          </a:prstGeom>
          <a:noFill/>
          <a:ln/>
        </p:spPr>
        <p:txBody>
          <a:bodyPr wrap="square" lIns="0" tIns="0" rIns="0" bIns="0" rtlCol="0" anchor="t"/>
          <a:lstStyle/>
          <a:p>
            <a:pPr indent="0" marL="0">
              <a:buNone/>
            </a:pPr>
            <a:r>
              <a:rPr lang="en-US" sz="2000" b="1" dirty="0">
                <a:solidFill>
                  <a:schemeClr val="bg1"/>
                </a:solidFill>
              </a:rPr>
              <a:t>Soham Athawale</a:t>
            </a:r>
            <a:endParaRPr lang="en-US" sz="2000" dirty="0"/>
          </a:p>
        </p:txBody>
      </p:sp>
      <p:sp>
        <p:nvSpPr>
          <p:cNvPr id="17" name="Text 15"/>
          <p:cNvSpPr txBox="1"/>
          <p:nvPr/>
        </p:nvSpPr>
        <p:spPr>
          <a:xfrm>
            <a:off x="548640" y="5440680"/>
            <a:ext cx="5410048" cy="548640"/>
          </a:xfrm>
          <a:prstGeom prst="rect">
            <a:avLst/>
          </a:prstGeom>
          <a:noFill/>
          <a:ln/>
        </p:spPr>
        <p:txBody>
          <a:bodyPr wrap="square" lIns="0" tIns="0" rIns="0" bIns="0" rtlCol="0" anchor="t"/>
          <a:lstStyle/>
          <a:p>
            <a:pPr indent="0" marL="0">
              <a:buNone/>
            </a:pPr>
            <a:r>
              <a:rPr lang="en-US" sz="1500" dirty="0">
                <a:solidFill>
                  <a:srgbClr val="B8C4D6"/>
                </a:solidFill>
              </a:rPr>
              <a:t>Team lead · [what Soham built]</a:t>
            </a:r>
            <a:endParaRPr lang="en-US" sz="1500" dirty="0"/>
          </a:p>
        </p:txBody>
      </p:sp>
      <p:sp>
        <p:nvSpPr>
          <p:cNvPr id="18" name="team rule 2"/>
          <p:cNvSpPr/>
          <p:nvPr/>
        </p:nvSpPr>
        <p:spPr>
          <a:xfrm>
            <a:off x="6233008" y="4846320"/>
            <a:ext cx="5410048" cy="0"/>
          </a:xfrm>
          <a:prstGeom prst="line">
            <a:avLst/>
          </a:prstGeom>
          <a:noFill/>
          <a:ln w="25400">
            <a:solidFill>
              <a:schemeClr val="accent5"/>
            </a:solidFill>
            <a:prstDash val="solid"/>
          </a:ln>
        </p:spPr>
      </p:sp>
      <p:sp>
        <p:nvSpPr>
          <p:cNvPr id="19" name="Text 17"/>
          <p:cNvSpPr txBox="1"/>
          <p:nvPr/>
        </p:nvSpPr>
        <p:spPr>
          <a:xfrm>
            <a:off x="6233008" y="4983480"/>
            <a:ext cx="5410048" cy="411480"/>
          </a:xfrm>
          <a:prstGeom prst="rect">
            <a:avLst/>
          </a:prstGeom>
          <a:noFill/>
          <a:ln/>
        </p:spPr>
        <p:txBody>
          <a:bodyPr wrap="square" lIns="0" tIns="0" rIns="0" bIns="0" rtlCol="0" anchor="t"/>
          <a:lstStyle/>
          <a:p>
            <a:pPr indent="0" marL="0">
              <a:buNone/>
            </a:pPr>
            <a:r>
              <a:rPr lang="en-US" sz="2000" b="1" dirty="0">
                <a:solidFill>
                  <a:schemeClr val="bg1"/>
                </a:solidFill>
              </a:rPr>
              <a:t>Vaishnavi Joshi</a:t>
            </a:r>
            <a:endParaRPr lang="en-US" sz="2000" dirty="0"/>
          </a:p>
        </p:txBody>
      </p:sp>
      <p:sp>
        <p:nvSpPr>
          <p:cNvPr id="20" name="Text 18"/>
          <p:cNvSpPr txBox="1"/>
          <p:nvPr/>
        </p:nvSpPr>
        <p:spPr>
          <a:xfrm>
            <a:off x="6233008" y="5440680"/>
            <a:ext cx="5410048" cy="548640"/>
          </a:xfrm>
          <a:prstGeom prst="rect">
            <a:avLst/>
          </a:prstGeom>
          <a:noFill/>
          <a:ln/>
        </p:spPr>
        <p:txBody>
          <a:bodyPr wrap="square" lIns="0" tIns="0" rIns="0" bIns="0" rtlCol="0" anchor="t"/>
          <a:lstStyle/>
          <a:p>
            <a:pPr indent="0" marL="0">
              <a:buNone/>
            </a:pPr>
            <a:r>
              <a:rPr lang="en-US" sz="1500" dirty="0">
                <a:solidFill>
                  <a:srgbClr val="B8C4D6"/>
                </a:solidFill>
              </a:rPr>
              <a:t>[what Vaishnavi built]</a:t>
            </a:r>
            <a:endParaRPr lang="en-US" sz="1500" dirty="0"/>
          </a:p>
        </p:txBody>
      </p:sp>
      <p:sp>
        <p:nvSpPr>
          <p:cNvPr id="21" name="Text 0"/>
          <p:cNvSpPr/>
          <p:nvPr>
            <p:ph idx="100" type="body" hasCustomPrompt="1"/>
          </p:nvPr>
        </p:nvSpPr>
        <p:spPr>
          <a:xfrm>
            <a:off x="548640" y="6355080"/>
            <a:ext cx="10362895" cy="274320"/>
          </a:xfrm>
          <a:prstGeom prst="rect">
            <a:avLst/>
          </a:prstGeom>
          <a:noFill/>
          <a:ln/>
        </p:spPr>
        <p:txBody>
          <a:bodyPr wrap="square" lIns="0" tIns="0" rIns="0" bIns="0" rtlCol="0" anchor="ctr"/>
          <a:lstStyle/>
          <a:p>
            <a:pPr indent="0" marL="0">
              <a:buNone/>
            </a:pPr>
            <a:r>
              <a:rPr lang="en-US" sz="1100" dirty="0">
                <a:solidFill>
                  <a:schemeClr val="accent5"/>
                </a:solidFill>
              </a:rPr>
              <a:t>Code written during the datathon (Oct 17–18) with help from Claude Code, an AI coding assistant · public data</a:t>
            </a:r>
            <a:endParaRPr lang="en-US" sz="1100" dirty="0"/>
          </a:p>
        </p:txBody>
      </p:sp>
    </p:spTree>
  </p:cSld>
  <p:clrMapOvr>
    <a:masterClrMapping/>
  </p:clrMapOvr>
</p:sld>
</file>

<file path=ppt/theme/theme1.xml><?xml version="1.0" encoding="utf-8"?>
<a:theme xmlns:a="http://schemas.openxmlformats.org/drawingml/2006/main" name="ScamShield">
  <a:themeElements>
    <a:clrScheme name="ScamShield">
      <a:dk1>
        <a:srgbClr val="0E1A2B"/>
      </a:dk1>
      <a:lt1>
        <a:srgbClr val="FFFFFF"/>
      </a:lt1>
      <a:dk2>
        <a:srgbClr val="46505E"/>
      </a:dk2>
      <a:lt2>
        <a:srgbClr val="F5F6F2"/>
      </a:lt2>
      <a:accent1>
        <a:srgbClr val="2456C9"/>
      </a:accent1>
      <a:accent2>
        <a:srgbClr val="B04E14"/>
      </a:accent2>
      <a:accent3>
        <a:srgbClr val="14213D"/>
      </a:accent3>
      <a:accent4>
        <a:srgbClr val="DDE1D8"/>
      </a:accent4>
      <a:accent5>
        <a:srgbClr val="8EB1FF"/>
      </a:accent5>
      <a:accent6>
        <a:srgbClr val="1C2D45"/>
      </a:accent6>
      <a:hlink>
        <a:srgbClr val="2456C9"/>
      </a:hlink>
      <a:folHlink>
        <a:srgbClr val="6B7482"/>
      </a:folHlink>
    </a:clrScheme>
    <a:fontScheme name="ScamShield">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ScamShield — IBM Z Datathon 2026</dc:title>
  <dc:subject>PptxGenJS Presentation</dc:subject>
  <dc:creator>Team IBMBoB</dc:creator>
  <cp:lastModifiedBy>Team IBMBoB</cp:lastModifiedBy>
  <cp:revision>1</cp:revision>
  <dcterms:created xsi:type="dcterms:W3CDTF">2026-10-17T23:16:06Z</dcterms:created>
  <dcterms:modified xsi:type="dcterms:W3CDTF">2026-10-17T23:16:06Z</dcterms:modified>
</cp:coreProperties>
</file>